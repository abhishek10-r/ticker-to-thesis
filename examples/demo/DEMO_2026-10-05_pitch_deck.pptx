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Revenue 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DEMO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-0.050000000000000044</c:v>
                </c:pt>
                <c:pt idx="1">
                  <c:v>0.18999999999999995</c:v>
                </c:pt>
                <c:pt idx="2">
                  <c:v>0.050000000000000044</c:v>
                </c:pt>
                <c:pt idx="3">
                  <c:v>0.10000000000000009</c:v>
                </c:pt>
                <c:pt idx="4">
                  <c:v>0.0</c:v>
                </c:pt>
                <c:pt idx="5">
                  <c:v>-0.0963999999908618</c:v>
                </c:pt>
                <c:pt idx="6">
                  <c:v>-0.003984063742638155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0.1100000000000001</c:v>
                </c:pt>
                <c:pt idx="1">
                  <c:v>0.050000000000000044</c:v>
                </c:pt>
                <c:pt idx="2">
                  <c:v>0.27</c:v>
                </c:pt>
                <c:pt idx="3">
                  <c:v>0.1400000001149304</c:v>
                </c:pt>
                <c:pt idx="4">
                  <c:v>0.10000000001485909</c:v>
                </c:pt>
                <c:pt idx="5">
                  <c:v>0.03999999998611581</c:v>
                </c:pt>
                <c:pt idx="6">
                  <c:v>0.020000000086775938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EBIT margin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DEMO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FY2018</c:v>
                </c:pt>
                <c:pt idx="1">
                  <c:v>FY2019</c:v>
                </c:pt>
                <c:pt idx="2">
                  <c:v>FY2020</c:v>
                </c:pt>
                <c:pt idx="3">
                  <c:v>FY2021</c:v>
                </c:pt>
                <c:pt idx="4">
                  <c:v>FY2022</c:v>
                </c:pt>
                <c:pt idx="5">
                  <c:v>FY2023</c:v>
                </c:pt>
                <c:pt idx="6">
                  <c:v>FY2024</c:v>
                </c:pt>
                <c:pt idx="7">
                  <c:v>FY2025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0.13</c:v>
                </c:pt>
                <c:pt idx="1">
                  <c:v>0.1</c:v>
                </c:pt>
                <c:pt idx="2">
                  <c:v>0.16</c:v>
                </c:pt>
                <c:pt idx="3">
                  <c:v>0.14</c:v>
                </c:pt>
                <c:pt idx="4">
                  <c:v>0.1200000000045016</c:v>
                </c:pt>
                <c:pt idx="5">
                  <c:v>0.1200000000045016</c:v>
                </c:pt>
                <c:pt idx="6">
                  <c:v>0.07968127490258169</c:v>
                </c:pt>
                <c:pt idx="7">
                  <c:v>0.06999999998299397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FY2018</c:v>
                </c:pt>
                <c:pt idx="1">
                  <c:v>FY2019</c:v>
                </c:pt>
                <c:pt idx="2">
                  <c:v>FY2020</c:v>
                </c:pt>
                <c:pt idx="3">
                  <c:v>FY2021</c:v>
                </c:pt>
                <c:pt idx="4">
                  <c:v>FY2022</c:v>
                </c:pt>
                <c:pt idx="5">
                  <c:v>FY2023</c:v>
                </c:pt>
                <c:pt idx="6">
                  <c:v>FY2024</c:v>
                </c:pt>
                <c:pt idx="7">
                  <c:v>FY2025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0.14</c:v>
                </c:pt>
                <c:pt idx="1">
                  <c:v>0.15</c:v>
                </c:pt>
                <c:pt idx="2">
                  <c:v>0.1899999999056571</c:v>
                </c:pt>
                <c:pt idx="3">
                  <c:v>0.18000000000499697</c:v>
                </c:pt>
                <c:pt idx="4">
                  <c:v>0.1799999999956167</c:v>
                </c:pt>
                <c:pt idx="5">
                  <c:v>0.20999999998142665</c:v>
                </c:pt>
                <c:pt idx="6">
                  <c:v>0.21999999998749242</c:v>
                </c:pt>
                <c:pt idx="7">
                  <c:v>0.2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Revenue growth: peer distribution vs DEMO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 75th percentile</c:v>
                </c:pt>
              </c:strCache>
            </c:strRef>
          </c:tx>
          <c:spPr>
            <a:ln w="28575">
              <a:solidFill>
                <a:srgbClr val="A9B8CC"/>
              </a:solidFill>
            </a:ln>
          </c:spPr>
          <c:marker>
            <c:size val="7"/>
            <c:spPr>
              <a:solidFill>
                <a:srgbClr val="A9B8CC"/>
              </a:solidFill>
              <a:ln>
                <a:solidFill>
                  <a:srgbClr val="A9B8CC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0.1200000000000001</c:v>
                </c:pt>
                <c:pt idx="1">
                  <c:v>0.3799999999999999</c:v>
                </c:pt>
                <c:pt idx="2">
                  <c:v>0.30000000000000004</c:v>
                </c:pt>
                <c:pt idx="3">
                  <c:v>0.18999999999999995</c:v>
                </c:pt>
                <c:pt idx="4">
                  <c:v>0.10999999997431442</c:v>
                </c:pt>
                <c:pt idx="5">
                  <c:v>0.08000000000810492</c:v>
                </c:pt>
                <c:pt idx="6">
                  <c:v>0.039999999974984934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0.1100000000000001</c:v>
                </c:pt>
                <c:pt idx="1">
                  <c:v>0.050000000000000044</c:v>
                </c:pt>
                <c:pt idx="2">
                  <c:v>0.27</c:v>
                </c:pt>
                <c:pt idx="3">
                  <c:v>0.1400000001149304</c:v>
                </c:pt>
                <c:pt idx="4">
                  <c:v>0.10000000001485909</c:v>
                </c:pt>
                <c:pt idx="5">
                  <c:v>0.03999999998611581</c:v>
                </c:pt>
                <c:pt idx="6">
                  <c:v>0.020000000086775938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25th percentile</c:v>
                </c:pt>
              </c:strCache>
            </c:strRef>
          </c:tx>
          <c:spPr>
            <a:ln w="28575">
              <a:solidFill>
                <a:srgbClr val="A9B8CC"/>
              </a:solidFill>
            </a:ln>
          </c:spPr>
          <c:marker>
            <c:size val="7"/>
            <c:spPr>
              <a:solidFill>
                <a:srgbClr val="A9B8CC"/>
              </a:solidFill>
              <a:ln>
                <a:solidFill>
                  <a:srgbClr val="A9B8CC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0.08000000000000007</c:v>
                </c:pt>
                <c:pt idx="1">
                  <c:v>-0.09999999999999998</c:v>
                </c:pt>
                <c:pt idx="2">
                  <c:v>0.25</c:v>
                </c:pt>
                <c:pt idx="3">
                  <c:v>0.10000000000000009</c:v>
                </c:pt>
                <c:pt idx="4">
                  <c:v>0.06000000000000005</c:v>
                </c:pt>
                <c:pt idx="5">
                  <c:v>-0.03000000001930192</c:v>
                </c:pt>
                <c:pt idx="6">
                  <c:v>0.009999999960202288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DEMO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-0.050000000000000044</c:v>
                </c:pt>
                <c:pt idx="1">
                  <c:v>0.18999999999999995</c:v>
                </c:pt>
                <c:pt idx="2">
                  <c:v>0.050000000000000044</c:v>
                </c:pt>
                <c:pt idx="3">
                  <c:v>0.10000000000000009</c:v>
                </c:pt>
                <c:pt idx="4">
                  <c:v>0.0</c:v>
                </c:pt>
                <c:pt idx="5">
                  <c:v>-0.0963999999908618</c:v>
                </c:pt>
                <c:pt idx="6">
                  <c:v>-0.003984063742638155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ROIC (latest fiscal year)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ROIC (latest fiscal year)</c:v>
                </c:pt>
              </c:strCache>
            </c:strRef>
          </c:tx>
          <c:spPr>
            <a:solidFill>
              <a:srgbClr val="2F5C8F"/>
            </a:solidFill>
          </c:spPr>
          <c:dPt>
            <c:idx val="3"/>
            <c:spPr>
              <a:solidFill>
                <a:srgbClr val="E07A1F"/>
              </a:solidFill>
            </c:spPr>
          </c:dPt>
          <c:cat>
            <c:strRef>
              <c:f>Sheet1!$A$2:$A$7</c:f>
              <c:strCache>
                <c:ptCount val="6"/>
                <c:pt idx="0">
                  <c:v>PEERB</c:v>
                </c:pt>
                <c:pt idx="1">
                  <c:v>PEERA</c:v>
                </c:pt>
                <c:pt idx="2">
                  <c:v>PEERE</c:v>
                </c:pt>
                <c:pt idx="3">
                  <c:v>DEMO</c:v>
                </c:pt>
                <c:pt idx="4">
                  <c:v>PEERD</c:v>
                </c:pt>
                <c:pt idx="5">
                  <c:v>PEERC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8.709041048922503</c:v>
                </c:pt>
                <c:pt idx="1">
                  <c:v>0.8899198091897773</c:v>
                </c:pt>
                <c:pt idx="2">
                  <c:v>0.3451424294817808</c:v>
                </c:pt>
                <c:pt idx="3">
                  <c:v>0.23752617327099923</c:v>
                </c:pt>
                <c:pt idx="4">
                  <c:v>0.042121109108611415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FCF margin (latest fiscal year)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FCF margin (latest fiscal year)</c:v>
                </c:pt>
              </c:strCache>
            </c:strRef>
          </c:tx>
          <c:spPr>
            <a:solidFill>
              <a:srgbClr val="2F5C8F"/>
            </a:solidFill>
          </c:spPr>
          <c:dPt>
            <c:idx val="4"/>
            <c:spPr>
              <a:solidFill>
                <a:srgbClr val="E07A1F"/>
              </a:solidFill>
            </c:spPr>
          </c:dPt>
          <c:cat>
            <c:strRef>
              <c:f>Sheet1!$A$2:$A$7</c:f>
              <c:strCache>
                <c:ptCount val="6"/>
                <c:pt idx="0">
                  <c:v>PEERB</c:v>
                </c:pt>
                <c:pt idx="1">
                  <c:v>PEERE</c:v>
                </c:pt>
                <c:pt idx="2">
                  <c:v>PEERA</c:v>
                </c:pt>
                <c:pt idx="3">
                  <c:v>PEERC</c:v>
                </c:pt>
                <c:pt idx="4">
                  <c:v>DEMO</c:v>
                </c:pt>
                <c:pt idx="5">
                  <c:v>PEERD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0.1848200000685792</c:v>
                </c:pt>
                <c:pt idx="1">
                  <c:v>0.17715151677066704</c:v>
                </c:pt>
                <c:pt idx="2">
                  <c:v>0.1686200000347446</c:v>
                </c:pt>
                <c:pt idx="3">
                  <c:v>0.07952000006872006</c:v>
                </c:pt>
                <c:pt idx="4">
                  <c:v>0.054967963268893916</c:v>
                </c:pt>
                <c:pt idx="5">
                  <c:v>0.007951257025403644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Unlevered free cash flow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Unlevered FCF ($m)</c:v>
                </c:pt>
              </c:strCache>
            </c:strRef>
          </c:tx>
          <c:spPr>
            <a:solidFill>
              <a:srgbClr val="2F5C8F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2683.3458177466578</c:v>
                </c:pt>
                <c:pt idx="1">
                  <c:v>3098.0315805884215</c:v>
                </c:pt>
                <c:pt idx="2">
                  <c:v>3563.135754662317</c:v>
                </c:pt>
                <c:pt idx="3">
                  <c:v>4098.365978809344</c:v>
                </c:pt>
                <c:pt idx="4">
                  <c:v>4726.908903060441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Unlevered betas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Unlevered beta</c:v>
                </c:pt>
              </c:strCache>
            </c:strRef>
          </c:tx>
          <c:spPr>
            <a:solidFill>
              <a:srgbClr val="2F5C8F"/>
            </a:solidFill>
          </c:spPr>
          <c:dPt>
            <c:idx val="5"/>
            <c:spPr>
              <a:solidFill>
                <a:srgbClr val="E07A1F"/>
              </a:solidFill>
            </c:spPr>
          </c:dPt>
          <c:cat>
            <c:strRef>
              <c:f>Sheet1!$A$2:$A$7</c:f>
              <c:strCache>
                <c:ptCount val="6"/>
                <c:pt idx="0">
                  <c:v>PEERE</c:v>
                </c:pt>
                <c:pt idx="1">
                  <c:v>PEERA</c:v>
                </c:pt>
                <c:pt idx="2">
                  <c:v>PEERB</c:v>
                </c:pt>
                <c:pt idx="3">
                  <c:v>PEERC</c:v>
                </c:pt>
                <c:pt idx="4">
                  <c:v>PEERD</c:v>
                </c:pt>
                <c:pt idx="5">
                  <c:v>DEMO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1.250482403058486</c:v>
                </c:pt>
                <c:pt idx="1">
                  <c:v>1.1181910909235095</c:v>
                </c:pt>
                <c:pt idx="2">
                  <c:v>1.1046706466485645</c:v>
                </c:pt>
                <c:pt idx="3">
                  <c:v>1.0586487059902245</c:v>
                </c:pt>
                <c:pt idx="4">
                  <c:v>0.9198705132827204</c:v>
                </c:pt>
                <c:pt idx="5">
                  <c:v>0.781150034989092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7ED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1" i="0">
                <a:solidFill>
                  <a:srgbClr val="E07A1F"/>
                </a:solidFill>
                <a:latin typeface="Calibri"/>
              </a:rPr>
              <a:t>EQUITY RESEARCH · INITIATION OF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Demo Athletic Brands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0" i="0">
                <a:solidFill>
                  <a:srgbClr val="C9D1DE"/>
                </a:solidFill>
                <a:latin typeface="Calibri"/>
              </a:rPr>
              <a:t>DEMO · Rubber &amp; Plastics Footwear · benchmarked against PEERA, PEERB, PEERC, PEERD, PEERE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B7791F"/>
                </a:solidFill>
                <a:latin typeface="Cambria"/>
              </a:rPr>
              <a:t>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PRICE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$48.59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CURRENT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$44.17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IMPLIED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B8A5A"/>
                </a:solidFill>
                <a:latin typeface="Cambria"/>
              </a:rPr>
              <a:t>+10.0%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2026-10-05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DEMO DATA: fictional companies, for testing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INVESTMENT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HOLD: $48.59 price target implies 10% upside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B7791F"/>
                </a:solidFill>
                <a:latin typeface="Cambria"/>
              </a:rPr>
              <a:t>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5468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PRICE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mbria"/>
              </a:rPr>
              <a:t>$48.59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IMPLIED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1B8A5A"/>
                </a:solidFill>
                <a:latin typeface="Cambria"/>
              </a:rPr>
              <a:t>+10.0%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69164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Investment thesis (model-derived)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03120"/>
            <a:ext cx="7498079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Valuation: our blended price target of $48.59 implies 10% upside; the DCF range under ±0.5pp WACC is $46.02–$53.64.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Operating path: the base case has revenue growth moving from -1.9% to +3.9% and EBIT margin from 7.0% to 15.3% by year 5, against a peer median margin of 20.0%.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Market-implied expectations: the current price sits 25% of the way from our bear ($32.55) to bull ($79.71) DCF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074920"/>
            <a:ext cx="7498079" cy="1097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16636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Valuation: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Price target $48.59 vs $44.17 current: +10.0% implied return → HOLD. DCF (perpetuity growth 2.5%, WACC 8.9%): $49.53 per share; exit-multiple method (12.5x EBITDA): $57.84.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COMPANY SNAPSHOT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Demo Athletic Brands Inc.: $40.0bn revenue, -0.4% growth and a 7.0% EBIT margin in FY2025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72237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05156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$m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FY2021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FY2022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FY2023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FY2024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40,390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44,429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44,429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40,146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39,986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-9.6%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43.8%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5,655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5,331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5,331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3,199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2,799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income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4,344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4,081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4,073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2,330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1,998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Free cash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4,546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4,303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4,295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2,530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2,198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ROIC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43.4%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38.2%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36.9%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24.4%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23.8%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debt / EBITDA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-0.6x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-0.6x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-1.0x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-1.2x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138160" y="1691640"/>
            <a:ext cx="3520440" cy="4343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Market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8288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$60.6bn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350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Enterprise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23500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$56.7bn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87121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Net debt / (cash)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871215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($4.0bn)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924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EV / EBITDA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33924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14.9x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1363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P /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3913631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30.4x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4348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52-week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4434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$32.88 – $44.17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956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Fiscal year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49560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05/31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4772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Industry (SIC)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547725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3021 Rubber &amp; Plastics Footwear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FINANCIAL PERFORMANCE VS PEERS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EBIT margin is 13.0pp below the peer median; 3-year revenue CAGR -3.5% vs +5.6% for peers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645920"/>
          <a:ext cx="54864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Profitability: EBIT margin of 7.0% ranks at the 25th percentile of the group (peer median 20.0%). Over three years it moved -5.0pp while the peer median moved +2.0pp.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PEER BENCHMARKING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Benchmark scorecard: DEMO trails the peer median on 7 of 11 metrics and leads on none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463040"/>
                <a:gridCol w="1463040"/>
                <a:gridCol w="2286000"/>
                <a:gridCol w="109728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Peer median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Peer range (Q1–Q3)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Percentile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1.0% – 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 CAGR (3y)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1.3% – 7.3%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50.0% – 52.0%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9.0% – 22.0%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ROIC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23.8%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61.8%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26.9% – 284.5%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FCF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16.9%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8.0% – 17.7%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FCF conversion (FCF / net income)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103.1%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102.9% – 106.7%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In line</a:t>
                      </a:r>
                    </a:p>
                  </a:txBody>
                  <a:tcPr marL="73152" marR="73152" marT="27432" marB="27432" anchor="ctr">
                    <a:solidFill>
                      <a:srgbClr val="EDEF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debt / EBITDA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-1.2x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-1.3x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-3.1x – -0.7x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In line</a:t>
                      </a:r>
                    </a:p>
                  </a:txBody>
                  <a:tcPr marL="73152" marR="73152" marT="27432" marB="27432" anchor="ctr">
                    <a:solidFill>
                      <a:srgbClr val="EDEF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Interest coverage (EBIT / interest)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6.8x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12.2x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6.7x – 17.7x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Inventory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110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110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110 days – 110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In line</a:t>
                      </a:r>
                    </a:p>
                  </a:txBody>
                  <a:tcPr marL="73152" marR="73152" marT="27432" marB="27432" anchor="ctr">
                    <a:solidFill>
                      <a:srgbClr val="EDEF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Cash conversion cycle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80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80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80 days – 80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In line</a:t>
                      </a:r>
                    </a:p>
                  </a:txBody>
                  <a:tcPr marL="73152" marR="73152" marT="27432" marB="27432" anchor="ctr"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Percentile: rank within the peer group, oriented so 100 = best (e.g. lower leverage scores higher). Latest fiscal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INDUSTRY TRENDS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Industry backdrop: peer revenue growth averaged +5.3% a year and margins are expanding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69164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What the peer group tells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48840"/>
            <a:ext cx="41148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Peer-group revenue growth has averaged +5.3% a year over the last three years (latest +2.0%); DEMO averaged -3.3%.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Industry EBIT margins are expanding (+2.0pp over three years, now 20.0% at the median).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Gross margin trend: peers 0.0pp, DEMO 0.0pp over three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RETURNS &amp; CASH GENERATION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Returns and cash: DEMO ranks #4 of 6 on ROIC and converts 110% of earnings into free cash flow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645920"/>
          <a:ext cx="548640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DEMO highlighted. ROIC = EBIT × (1 − tax) / average (debt + equity − cash). Source: SEC EDGAR;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DISCOUNTED CASH FLOW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DCF: $49.53 per share at a 8.9% WACC and 2.5% terminal growth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8521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892040"/>
          <a:ext cx="58521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822960"/>
                <a:gridCol w="822960"/>
                <a:gridCol w="8229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driver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Y1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Y2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Y3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Y4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Y5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Revenue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-1.9%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8.7%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13.6%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15.3%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Revenue ($m)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39,216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39,034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39,423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40,391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41,973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645920"/>
          <a:ext cx="48920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bridge ($m)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PV of forecast UFCF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14,444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PV of terminal value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49,594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Enterprise value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64,038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Less: net debt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-3,970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Equity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68,008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Diluted shares (m)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1,373.1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Value per share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$49.53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Terminal value % of EV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77.4%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Implied exit EV/EBITDA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Exit-multiple method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$57.84 at 12.5x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UFCF = EBIT × (1 − tax) + D&amp;A − capex − Δ working capital; mid-year discounting. Full model in the Excel workbook.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WACC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Cost of capital: 8.9% WACC from a bottom-up beta of 1.27 and an implied AA credit rating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9494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32004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Risk-free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Fixture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Equity risk premium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Assumption (config)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Unlevered beta (peer median)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 peers, 2y weekly vs S&amp;P 500, Blume-adjusted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Relevered beta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1.27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At DEMO's market D/E; own beta 0.89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Cost of equity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CAPM: rf + β × ERP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Cost of debt (pre-tax)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rf + 0.70% spread (AA; coverage 6.8x)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Weights (equity / debt)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84% / 16%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Market cap and book debt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WACC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8.9%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863840" y="1645920"/>
          <a:ext cx="3794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SENSITIVITY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Sensitivity: every ±0.5pp on WACC moves the DCF value by about $4 per share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583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WACC \ terminal growth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2.00%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2.25%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2.50%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2.75%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3.00%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7.88%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$54.51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$56.42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$58.52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$60.82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$63.35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8.38%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$50.32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$51.91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$53.64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$55.52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$57.58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8.88%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$46.74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$48.08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$49.53</a:t>
                      </a:r>
                    </a:p>
                  </a:txBody>
                  <a:tcPr marL="73152" marR="73152" marT="27432" marB="27432" anchor="ctr">
                    <a:solidFill>
                      <a:srgbClr val="FFE2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$51.09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$52.79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9.38%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$43.66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$44.80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$46.02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$47.34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$48.76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9.88%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$40.97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$41.95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$42.99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$44.12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$45.32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9204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Green: ≥15% above the current price ($44.17). Red: ≥10% below. Orange: base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7373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Exit-multiple method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2103120"/>
          <a:ext cx="4160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621792"/>
                <a:gridCol w="621792"/>
                <a:gridCol w="621792"/>
                <a:gridCol w="621792"/>
                <a:gridCol w="62179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WACC \ exit multiple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10.5x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11.5x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12.5x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13.5x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14.5x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7.88%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$52.75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$56.47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$60.19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$63.91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$67.63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8.38%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$51.72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$55.36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$59.00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$62.63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$66.27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8.88%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$50.73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$54.28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$57.84</a:t>
                      </a:r>
                    </a:p>
                  </a:txBody>
                  <a:tcPr marL="73152" marR="73152" marT="27432" marB="27432" anchor="ctr">
                    <a:solidFill>
                      <a:srgbClr val="FFE2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$61.39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$64.94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9.38%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$49.76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$53.23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$56.70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$60.18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$63.65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9.88%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$48.81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$52.21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$55.60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$59.00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$62.39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TRADING COMPARABLES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Trading comps: DEMO trades at 14.9x EV/EBITDA, a 19% premium to the peer median of 12.5x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51560"/>
                <a:gridCol w="1051560"/>
                <a:gridCol w="1097280"/>
                <a:gridCol w="1188720"/>
                <a:gridCol w="100584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Mkt cap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/ Sales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/ EBITDA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 / 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FCF yield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PEERA · Peer Apparel Group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$55.0bn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$52.4bn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3.1x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14.0x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20.2x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PEERE · Peer Lifestyle Co.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$27.6bn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$29.2bn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13.0x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17.5x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PEERB · Peer Footwear Holdings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$22.9bn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$20.8bn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3.1x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12.5x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18.7x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PEERC · Peer Outdoor Brands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$6.1bn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$4.7bn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10.0x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20.1x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PEERD · Peer Performance Wear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$2.5bn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$1.6bn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9.0x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DEMO · Demo Athletic Brands I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$60.6bn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$56.7bn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1.4x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14.9x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30.4x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Peer median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3.1x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12.5x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19.4x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4690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Implied value per share for DEMO: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EV/EBITDA: $37.47 (range $30.56–$38.86) · P/E: $28.23 (range $26.82–$29.25)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Multiples on latest reported fiscal year; EV uses the latest balance sheet. Negative or extreme multiples excluded.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FOOTBALL FIELD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Valuation range: methods point to $27–$80; price target $48.59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75504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1968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2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54896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52-week trading range</a:t>
            </a:r>
          </a:p>
        </p:txBody>
      </p:sp>
      <p:sp>
        <p:nvSpPr>
          <p:cNvPr id="11" name="Range 0"/>
          <p:cNvSpPr/>
          <p:nvPr/>
        </p:nvSpPr>
        <p:spPr>
          <a:xfrm>
            <a:off x="5253159" y="2167128"/>
            <a:ext cx="1351919" cy="347472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4479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0799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3405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Trading comps: EV/EBITDA 10.0x–13.0x</a:t>
            </a:r>
          </a:p>
        </p:txBody>
      </p:sp>
      <p:sp>
        <p:nvSpPr>
          <p:cNvPr id="15" name="Range 1"/>
          <p:cNvSpPr/>
          <p:nvPr/>
        </p:nvSpPr>
        <p:spPr>
          <a:xfrm>
            <a:off x="4974889" y="2734056"/>
            <a:ext cx="993836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6209" y="27797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4446" y="27797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009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Trading comps: P/E 18.4x–20.1x</a:t>
            </a:r>
          </a:p>
        </p:txBody>
      </p:sp>
      <p:sp>
        <p:nvSpPr>
          <p:cNvPr id="19" name="Range 2"/>
          <p:cNvSpPr/>
          <p:nvPr/>
        </p:nvSpPr>
        <p:spPr>
          <a:xfrm>
            <a:off x="4527383" y="3300984"/>
            <a:ext cx="290526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8703" y="33467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3629" y="33467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67911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DCF: perpetuity growth (WACC ±0.5pp, g ±0.25pp)</a:t>
            </a:r>
          </a:p>
        </p:txBody>
      </p:sp>
      <p:sp>
        <p:nvSpPr>
          <p:cNvPr id="23" name="Range 3"/>
          <p:cNvSpPr/>
          <p:nvPr/>
        </p:nvSpPr>
        <p:spPr>
          <a:xfrm>
            <a:off x="6680232" y="3867911"/>
            <a:ext cx="1283935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552" y="3913631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9887" y="3913631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DCF: exit multiple (WACC ±0.5pp, multiple ±1x)</a:t>
            </a:r>
          </a:p>
        </p:txBody>
      </p:sp>
      <p:sp>
        <p:nvSpPr>
          <p:cNvPr id="27" name="Range 4"/>
          <p:cNvSpPr/>
          <p:nvPr/>
        </p:nvSpPr>
        <p:spPr>
          <a:xfrm>
            <a:off x="7690124" y="4434840"/>
            <a:ext cx="1125962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44" y="44805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1807" y="44805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01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Scenarios: bear to bull (DCF)</a:t>
            </a:r>
          </a:p>
        </p:txBody>
      </p:sp>
      <p:sp>
        <p:nvSpPr>
          <p:cNvPr id="31" name="Range 5"/>
          <p:cNvSpPr/>
          <p:nvPr/>
        </p:nvSpPr>
        <p:spPr>
          <a:xfrm>
            <a:off x="5214106" y="5001768"/>
            <a:ext cx="5647185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5426" y="50474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07012" y="50474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$80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05079" y="1965960"/>
            <a:ext cx="0" cy="3493008"/>
          </a:xfrm>
          <a:prstGeom prst="line">
            <a:avLst/>
          </a:prstGeom>
          <a:ln w="19050">
            <a:solidFill>
              <a:srgbClr val="1F29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34534" y="1965960"/>
            <a:ext cx="0" cy="3493008"/>
          </a:xfrm>
          <a:prstGeom prst="line">
            <a:avLst/>
          </a:prstGeom>
          <a:ln w="3175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03127" y="16733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200" b="1" i="0">
                <a:solidFill>
                  <a:srgbClr val="1F2933"/>
                </a:solidFill>
                <a:latin typeface="Calibri"/>
              </a:rPr>
              <a:t>Price $44.17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7686" y="16733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1" i="0">
                <a:solidFill>
                  <a:srgbClr val="E07A1F"/>
                </a:solidFill>
                <a:latin typeface="Calibri"/>
              </a:rPr>
              <a:t>Target $48.59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Price target = 50% × DCF perpetuity ($49.53) + 25% × DCF exit multiple ($57.84) + 25% × comps EV/EBITDA ($37.47)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SCENARIO ANALYSIS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Scenarios: $33 bear, $50 base, $80 bull (DCF value per share)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BEAR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  <a:latin typeface="Cambria"/>
              </a:rPr>
              <a:t>$32.55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-26% vs current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-4.9% → +0.9%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BASE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14213D"/>
                </a:solidFill>
                <a:latin typeface="Cambria"/>
              </a:rPr>
              <a:t>$49.53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+12% vs current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-1.9% → +3.9%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15.3%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8.9%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2.5%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B8A5A"/>
                </a:solidFill>
                <a:latin typeface="Calibri"/>
              </a:rPr>
              <a:t>BULL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1B8A5A"/>
                </a:solidFill>
                <a:latin typeface="Cambria"/>
              </a:rPr>
              <a:t>$79.71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+80% vs current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+1.1% → +6.9%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17.3%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7.9%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3.0%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RISKS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Key risks and what would change our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Flagged by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3949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Margin compression: EBIT margin down 5.0pp over three years; the forecast assumes a recovery, which is the key swing factor.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Top-line decline in the latest year: the forecast relies on a return to growth.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Valuation leans on the terminal value (77% of DCF enterprise value), so it is sensitive to WACC and long-run growth (see sensitivity tables).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Premium multiple (14.9x EV/EBITDA vs peers 12.5x) despite below-median growth.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Forecast margin expansion of 8.3pp by year 5 is ambitious; the bear case removes 2pp.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Where the company trails its peers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48840"/>
            <a:ext cx="53035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Gross margin: 44.0% vs peer median 50.0%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EBIT margin: 7.0% vs peer median 20.0%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Revenue CAGR (3y): -3.5% vs peer median 5.6%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4348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Where the company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846320"/>
            <a:ext cx="5303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1B8A5A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FCF conversion (FCF / net income): 110.0% vs peer median 103.1%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Methodology, data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Data. </a:t>
            </a:r>
            <a:r>
              <a:rPr sz="1300">
                <a:solidFill>
                  <a:srgbClr val="1F2933"/>
                </a:solidFill>
                <a:latin typeface="Calibri"/>
              </a:rPr>
              <a:t>10-K/10-Q XBRL facts from SEC EDGAR for DEMO and 5 peers, standardised across tag changes and restatements; every value traceable to its filing (Excel: Sources sheet). Prices: Yahoo Finance / Stooq; risk-free: FRED DGS10.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Benchmarking. </a:t>
            </a:r>
            <a:r>
              <a:rPr sz="1300">
                <a:solidFill>
                  <a:srgbClr val="1F2933"/>
                </a:solidFill>
                <a:latin typeface="Calibri"/>
              </a:rPr>
              <a:t>Latest fiscal year for each company; percentile ranks oriented so 100 = best; trends use the peer median and quartiles.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DCF. </a:t>
            </a:r>
            <a:r>
              <a:rPr sz="1300">
                <a:solidFill>
                  <a:srgbClr val="1F2933"/>
                </a:solidFill>
                <a:latin typeface="Calibri"/>
              </a:rPr>
              <a:t>5-year forecast, unlevered FCF, mid-year discounting, Gordon growth and exit-multiple terminal values.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WACC. </a:t>
            </a:r>
            <a:r>
              <a:rPr sz="1300">
                <a:solidFill>
                  <a:srgbClr val="1F2933"/>
                </a:solidFill>
                <a:latin typeface="Calibri"/>
              </a:rPr>
              <a:t>CAPM with a bottom-up beta (peer regression betas, Blume-adjusted, unlevered and relevered); cost of debt from a synthetic rating.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Price target. </a:t>
            </a:r>
            <a:r>
              <a:rPr sz="1300">
                <a:solidFill>
                  <a:srgbClr val="1F2933"/>
                </a:solidFill>
                <a:latin typeface="Calibri"/>
              </a:rPr>
              <a:t>Weighted blend of DCF (perpetuity and exit multiple) and trading comps; rating thresholds +15% / −10%.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Limitations. </a:t>
            </a:r>
            <a:r>
              <a:rPr sz="1300">
                <a:solidFill>
                  <a:srgbClr val="1F2933"/>
                </a:solidFill>
                <a:latin typeface="Calibri"/>
              </a:rPr>
              <a:t>No consensus estimates or stub-period adjustment; multiples on the latest fiscal year, not LTM; operating leases excluded from debt; peer set chosen by the analyst.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Educational research project generated with Ticker-to-Thesis. Not investment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DEMO · 2026-10-05 ·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