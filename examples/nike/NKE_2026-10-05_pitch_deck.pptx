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Revenue 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NKE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1">
                  <c:v>-0.04381726615026715</c:v>
                </c:pt>
                <c:pt idx="2">
                  <c:v>0.1907600994572627</c:v>
                </c:pt>
                <c:pt idx="3">
                  <c:v>0.04876734473932376</c:v>
                </c:pt>
                <c:pt idx="4">
                  <c:v>0.09648897452365657</c:v>
                </c:pt>
                <c:pt idx="5">
                  <c:v>0.0028310912392370824</c:v>
                </c:pt>
                <c:pt idx="6">
                  <c:v>-0.09838012538452556</c:v>
                </c:pt>
                <c:pt idx="7">
                  <c:v>0.0019218726381480256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0.1082720254524987</c:v>
                </c:pt>
                <c:pt idx="1">
                  <c:v>0.03857447537214331</c:v>
                </c:pt>
                <c:pt idx="2">
                  <c:v>0.2598656981593461</c:v>
                </c:pt>
                <c:pt idx="3">
                  <c:v>0.28174671468140455</c:v>
                </c:pt>
                <c:pt idx="4">
                  <c:v>0.07670225603833614</c:v>
                </c:pt>
                <c:pt idx="5">
                  <c:v>0.0006280949706003458</c:v>
                </c:pt>
                <c:pt idx="6">
                  <c:v>-0.003221197828257527</c:v>
                </c:pt>
                <c:pt idx="7">
                  <c:v>0.010575409553030157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EBIT margin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NKE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  <c:pt idx="3">
                  <c:v>FY2021</c:v>
                </c:pt>
                <c:pt idx="4">
                  <c:v>FY2022</c:v>
                </c:pt>
                <c:pt idx="5">
                  <c:v>FY2023</c:v>
                </c:pt>
                <c:pt idx="6">
                  <c:v>FY2024</c:v>
                </c:pt>
                <c:pt idx="7">
                  <c:v>FY2025</c:v>
                </c:pt>
                <c:pt idx="8">
                  <c:v>FY2026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1">
                  <c:v>0.1219929953728558</c:v>
                </c:pt>
                <c:pt idx="2">
                  <c:v>0.08328208967195144</c:v>
                </c:pt>
                <c:pt idx="3">
                  <c:v>0.15575463649018814</c:v>
                </c:pt>
                <c:pt idx="4">
                  <c:v>0.14290301862556198</c:v>
                </c:pt>
                <c:pt idx="5">
                  <c:v>0.11548899779370131</c:v>
                </c:pt>
                <c:pt idx="6">
                  <c:v>0.12287294108484872</c:v>
                </c:pt>
                <c:pt idx="7">
                  <c:v>0.07994126411712627</c:v>
                </c:pt>
                <c:pt idx="8">
                  <c:v>0.0818354239406871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  <c:pt idx="3">
                  <c:v>FY2021</c:v>
                </c:pt>
                <c:pt idx="4">
                  <c:v>FY2022</c:v>
                </c:pt>
                <c:pt idx="5">
                  <c:v>FY2023</c:v>
                </c:pt>
                <c:pt idx="6">
                  <c:v>FY2024</c:v>
                </c:pt>
                <c:pt idx="7">
                  <c:v>FY2025</c:v>
                </c:pt>
                <c:pt idx="8">
                  <c:v>FY2026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0.09154435635873485</c:v>
                </c:pt>
                <c:pt idx="1">
                  <c:v>0.12287159096619622</c:v>
                </c:pt>
                <c:pt idx="2">
                  <c:v>0.12147743754250748</c:v>
                </c:pt>
                <c:pt idx="3">
                  <c:v>0.1710813299322907</c:v>
                </c:pt>
                <c:pt idx="4">
                  <c:v>0.16378830550650403</c:v>
                </c:pt>
                <c:pt idx="5">
                  <c:v>0.1350092011471762</c:v>
                </c:pt>
                <c:pt idx="6">
                  <c:v>0.1483444604522532</c:v>
                </c:pt>
                <c:pt idx="7">
                  <c:v>0.0489720207038323</c:v>
                </c:pt>
                <c:pt idx="8">
                  <c:v>0.06002671259453336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Revenue growth: peer distribution vs NKE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75th percentile</c:v>
                </c:pt>
              </c:strCache>
            </c:strRef>
          </c:tx>
          <c:spPr>
            <a:ln w="28575">
              <a:solidFill>
                <a:srgbClr val="A9B8CC"/>
              </a:solidFill>
            </a:ln>
          </c:spPr>
          <c:marker>
            <c:size val="7"/>
            <c:spPr>
              <a:solidFill>
                <a:srgbClr val="A9B8CC"/>
              </a:solidFill>
              <a:ln>
                <a:solidFill>
                  <a:srgbClr val="A9B8CC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0.15066769437230537</c:v>
                </c:pt>
                <c:pt idx="1">
                  <c:v>0.09353613254539195</c:v>
                </c:pt>
                <c:pt idx="2">
                  <c:v>0.3835004360714511</c:v>
                </c:pt>
                <c:pt idx="3">
                  <c:v>0.2963104502001641</c:v>
                </c:pt>
                <c:pt idx="4">
                  <c:v>0.14219382735937086</c:v>
                </c:pt>
                <c:pt idx="5">
                  <c:v>0.0843576263166455</c:v>
                </c:pt>
                <c:pt idx="6">
                  <c:v>0.038577381699828994</c:v>
                </c:pt>
                <c:pt idx="7">
                  <c:v>0.05409655713004757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0.1082720254524987</c:v>
                </c:pt>
                <c:pt idx="1">
                  <c:v>0.03857447537214331</c:v>
                </c:pt>
                <c:pt idx="2">
                  <c:v>0.2598656981593461</c:v>
                </c:pt>
                <c:pt idx="3">
                  <c:v>0.28174671468140455</c:v>
                </c:pt>
                <c:pt idx="4">
                  <c:v>0.07670225603833614</c:v>
                </c:pt>
                <c:pt idx="5">
                  <c:v>0.0006280949706003458</c:v>
                </c:pt>
                <c:pt idx="6">
                  <c:v>-0.003221197828257527</c:v>
                </c:pt>
                <c:pt idx="7">
                  <c:v>0.010575409553030157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25th percentile</c:v>
                </c:pt>
              </c:strCache>
            </c:strRef>
          </c:tx>
          <c:spPr>
            <a:ln w="28575">
              <a:solidFill>
                <a:srgbClr val="A9B8CC"/>
              </a:solidFill>
            </a:ln>
          </c:spPr>
          <c:marker>
            <c:size val="7"/>
            <c:spPr>
              <a:solidFill>
                <a:srgbClr val="A9B8CC"/>
              </a:solidFill>
              <a:ln>
                <a:solidFill>
                  <a:srgbClr val="A9B8CC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0.06783284567732961</c:v>
                </c:pt>
                <c:pt idx="1">
                  <c:v>-0.10744339022222732</c:v>
                </c:pt>
                <c:pt idx="2">
                  <c:v>0.20766828274915577</c:v>
                </c:pt>
                <c:pt idx="3">
                  <c:v>0.23754252858121006</c:v>
                </c:pt>
                <c:pt idx="4">
                  <c:v>0.014694505715630968</c:v>
                </c:pt>
                <c:pt idx="5">
                  <c:v>-0.03407750643684346</c:v>
                </c:pt>
                <c:pt idx="6">
                  <c:v>-0.034831845746183476</c:v>
                </c:pt>
                <c:pt idx="7">
                  <c:v>-0.013876520453961039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NKE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1">
                  <c:v>-0.04381726615026715</c:v>
                </c:pt>
                <c:pt idx="2">
                  <c:v>0.1907600994572627</c:v>
                </c:pt>
                <c:pt idx="3">
                  <c:v>0.04876734473932376</c:v>
                </c:pt>
                <c:pt idx="4">
                  <c:v>0.09648897452365657</c:v>
                </c:pt>
                <c:pt idx="5">
                  <c:v>0.0028310912392370824</c:v>
                </c:pt>
                <c:pt idx="6">
                  <c:v>-0.09838012538452556</c:v>
                </c:pt>
                <c:pt idx="7">
                  <c:v>0.0019218726381480256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ROIC (latest fiscal year)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ROIC (latest fiscal year)</c:v>
                </c:pt>
              </c:strCache>
            </c:strRef>
          </c:tx>
          <c:spPr>
            <a:solidFill>
              <a:srgbClr val="2F5C8F"/>
            </a:solidFill>
          </c:spPr>
          <c:dPt>
            <c:idx val="2"/>
            <c:spPr>
              <a:solidFill>
                <a:srgbClr val="E07A1F"/>
              </a:solidFill>
            </c:spPr>
          </c:dPt>
          <c:cat>
            <c:strRef>
              <c:f>Sheet1!$A$2:$A$8</c:f>
              <c:strCache>
                <c:ptCount val="7"/>
                <c:pt idx="0">
                  <c:v>DECK</c:v>
                </c:pt>
                <c:pt idx="1">
                  <c:v>LULU</c:v>
                </c:pt>
                <c:pt idx="2">
                  <c:v>NKE</c:v>
                </c:pt>
                <c:pt idx="3">
                  <c:v>COLM</c:v>
                </c:pt>
                <c:pt idx="4">
                  <c:v>VFC</c:v>
                </c:pt>
                <c:pt idx="5">
                  <c:v>CROX</c:v>
                </c:pt>
                <c:pt idx="6">
                  <c:v>UAA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1.4978841265811065</c:v>
                </c:pt>
                <c:pt idx="1">
                  <c:v>0.5675598085464657</c:v>
                </c:pt>
                <c:pt idx="2">
                  <c:v>0.2344944918689494</c:v>
                </c:pt>
                <c:pt idx="3">
                  <c:v>0.16963951868581043</c:v>
                </c:pt>
                <c:pt idx="4">
                  <c:v>0.08995453184119279</c:v>
                </c:pt>
                <c:pt idx="5">
                  <c:v>0.027332758580345496</c:v>
                </c:pt>
                <c:pt idx="6">
                  <c:v>-0.06021877346847122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FCF margin (latest fiscal year)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FCF margin (latest fiscal year)</c:v>
                </c:pt>
              </c:strCache>
            </c:strRef>
          </c:tx>
          <c:spPr>
            <a:solidFill>
              <a:srgbClr val="2F5C8F"/>
            </a:solidFill>
          </c:spPr>
          <c:dPt>
            <c:idx val="5"/>
            <c:spPr>
              <a:solidFill>
                <a:srgbClr val="E07A1F"/>
              </a:solidFill>
            </c:spPr>
          </c:dPt>
          <c:cat>
            <c:strRef>
              <c:f>Sheet1!$A$2:$A$8</c:f>
              <c:strCache>
                <c:ptCount val="7"/>
                <c:pt idx="0">
                  <c:v>DECK</c:v>
                </c:pt>
                <c:pt idx="1">
                  <c:v>CROX</c:v>
                </c:pt>
                <c:pt idx="2">
                  <c:v>LULU</c:v>
                </c:pt>
                <c:pt idx="3">
                  <c:v>COLM</c:v>
                </c:pt>
                <c:pt idx="4">
                  <c:v>VFC</c:v>
                </c:pt>
                <c:pt idx="5">
                  <c:v>NKE</c:v>
                </c:pt>
                <c:pt idx="6">
                  <c:v>UAA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0.2005249716024133</c:v>
                </c:pt>
                <c:pt idx="1">
                  <c:v>0.16314218985226872</c:v>
                </c:pt>
                <c:pt idx="2">
                  <c:v>0.08301433898366148</c:v>
                </c:pt>
                <c:pt idx="3">
                  <c:v>0.0637958809672595</c:v>
                </c:pt>
                <c:pt idx="4">
                  <c:v>0.05794430041955369</c:v>
                </c:pt>
                <c:pt idx="5">
                  <c:v>0.047070994439415495</c:v>
                </c:pt>
                <c:pt idx="6">
                  <c:v>-0.03265221882380894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Unlevered free cash flow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FCF ($m)</c:v>
                </c:pt>
              </c:strCache>
            </c:strRef>
          </c:tx>
          <c:spPr>
            <a:solidFill>
              <a:srgbClr val="2F5C8F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2457.412023544915</c:v>
                </c:pt>
                <c:pt idx="1">
                  <c:v>2275.307663818879</c:v>
                </c:pt>
                <c:pt idx="2">
                  <c:v>2890.275620227238</c:v>
                </c:pt>
                <c:pt idx="3">
                  <c:v>3493.00405909606</c:v>
                </c:pt>
                <c:pt idx="4">
                  <c:v>4095.681093787089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Unlevered betas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beta</c:v>
                </c:pt>
              </c:strCache>
            </c:strRef>
          </c:tx>
          <c:spPr>
            <a:solidFill>
              <a:srgbClr val="2F5C8F"/>
            </a:solidFill>
          </c:spPr>
          <c:dPt>
            <c:idx val="3"/>
            <c:spPr>
              <a:solidFill>
                <a:srgbClr val="E07A1F"/>
              </a:solidFill>
            </c:spPr>
          </c:dPt>
          <c:cat>
            <c:strRef>
              <c:f>Sheet1!$A$2:$A$8</c:f>
              <c:strCache>
                <c:ptCount val="7"/>
                <c:pt idx="0">
                  <c:v>DECK</c:v>
                </c:pt>
                <c:pt idx="1">
                  <c:v>LULU</c:v>
                </c:pt>
                <c:pt idx="2">
                  <c:v>VFC</c:v>
                </c:pt>
                <c:pt idx="3">
                  <c:v>NKE</c:v>
                </c:pt>
                <c:pt idx="4">
                  <c:v>UAA</c:v>
                </c:pt>
                <c:pt idx="5">
                  <c:v>COLM</c:v>
                </c:pt>
                <c:pt idx="6">
                  <c:v>CROX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1.2225283798186093</c:v>
                </c:pt>
                <c:pt idx="1">
                  <c:v>1.0720140002968952</c:v>
                </c:pt>
                <c:pt idx="2">
                  <c:v>1.0595418151921754</c:v>
                </c:pt>
                <c:pt idx="3">
                  <c:v>0.8933309304301364</c:v>
                </c:pt>
                <c:pt idx="4">
                  <c:v>0.8171317977825201</c:v>
                </c:pt>
                <c:pt idx="5">
                  <c:v>0.7529380848569562</c:v>
                </c:pt>
                <c:pt idx="6">
                  <c:v>0.7243024558785043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7ED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1" i="0">
                <a:solidFill>
                  <a:srgbClr val="E07A1F"/>
                </a:solidFill>
                <a:latin typeface="Calibri"/>
              </a:rPr>
              <a:t>EQUITY RESEARCH · INITIATION OF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NIKE,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0" i="0">
                <a:solidFill>
                  <a:srgbClr val="C9D1DE"/>
                </a:solidFill>
                <a:latin typeface="Calibri"/>
              </a:rPr>
              <a:t>NKE · Rubber &amp; Plastics Footwear · benchmarked against LULU, DECK, CROX, UAA, VFC, COLM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B7791F"/>
                </a:solidFill>
                <a:latin typeface="Cambria"/>
              </a:rPr>
              <a:t>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PRICE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$32.81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CURRENT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$33.87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IMPLIED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mbria"/>
              </a:rPr>
              <a:t>-3.1%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Abhishek Raut · 2026-10-05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8FA0B8"/>
                </a:solidFill>
                <a:latin typeface="Calibri"/>
              </a:rPr>
              <a:t>Built from SEC EDGAR filings and public market data with Ticker-to-Thesis.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INVESTMENT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HOLD: $32.81 price target implies 3% downside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B7791F"/>
                </a:solidFill>
                <a:latin typeface="Cambria"/>
              </a:rPr>
              <a:t>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PRICE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mbria"/>
              </a:rPr>
              <a:t>$32.81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IMPLIED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C0392B"/>
                </a:solidFill>
                <a:latin typeface="Cambria"/>
              </a:rPr>
              <a:t>-3.1%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69164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Investment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03120"/>
            <a:ext cx="7498079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The turnaround is already in the price: at ~$34, the market discounts EBIT margins rebuilding to ~11% by FY31. That is our base case too, so we see fair value, not a bargain.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FY27 is a reset year: management guides revenue down high-single digits and adj. EPS of $1.15-1.35. We model -8% revenue and a ~5% EBIT margin.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Self-help is real but back-end loaded: ~$2.5bn of Pace savings by FY31, inventory down 3% y/y and gross margin up 60bp in Q1 support the rebuild; China (-22% in Q1) is the swing factor.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074920"/>
            <a:ext cx="7498079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1663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Valuation: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Price target $32.81 vs $33.87 current: -3.1% implied return → HOLD. DCF (perpetuity growth 2.5%, WACC 9.2%): $35.57 per share; exit-multiple method (8.7x EBITDA): $32.99.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COMPANY SNAPSHOT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NIKE: $46.4bn revenue, +0.2% growth and a 8.2% EBIT margin in FY2026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7223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5156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$m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FY2022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FY2023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FY2024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46,710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51,217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51,362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46,309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46,398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-9.8%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43.5%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6,675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5,915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6,311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3,702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3,797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6,046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5,070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5,700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3,219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3,108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4,872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6,617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3,268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2,184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59.4%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40.3%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25.8%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debt / 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-0.4x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138160" y="1691640"/>
            <a:ext cx="3520440" cy="4343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Market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8288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$50.3bn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50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Enterprise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23500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$49.8bn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8712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Net debt / (cash)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871215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($475m)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924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EV / EBITDA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33924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11.0x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1363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P /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913631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16.2x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348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52-week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4434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$33.87 – $71.93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56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Fiscal year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49560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05/31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4772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Industry (SIC)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547725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3021 Rubber &amp; Plastics Footwear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FINANCIAL PERFORMANCE VS PEERS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EBIT margin is 2.1pp above the peer median; 3-year revenue CAGR -3.2% vs +1.9% for peers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645920"/>
          <a:ext cx="54864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Profitability: EBIT margin of 8.2% ranks at the 64th percentile of the group (peer median 6.0%). Over three years it moved -3.4pp while the peer median moved -7.5pp.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PEER BENCHMARKING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Benchmark scorecard: NKE trails the peer median on 6 of 11 metrics and leads on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463040"/>
                <a:gridCol w="1463040"/>
                <a:gridCol w="2286000"/>
                <a:gridCol w="109728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NKE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Peer range (Q1–Q3)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Percentile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-0.9% – 3.9%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 CAGR (3y)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-3.7% – 9.4%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55.7%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51.6% – 57.4%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4.3% – 16.5%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4.3% – 46.8%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FCF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5.9% – 14.3%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FCF conversion (FCF / net income)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114.7%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95.0% – 146.3%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debt / EBITDA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-0.7x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-1.4x – 3.2x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Interest coverage (EBIT / interest)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11.8x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1.7x – 499.2x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Inventory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103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119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89 days – 127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Cash conversion cycle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109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100 days – 110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Percentile: rank within the peer group, oriented so 100 = best (e.g. lower leverage scores higher). Latest fiscal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INDUSTRY TRENDS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Industry backdrop: peer revenue growth averaged +0.3% a year and margins are contracting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69164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What the peer group tells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48840"/>
            <a:ext cx="41148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Peer-group revenue growth has averaged +0.3% a year over the last three years (latest +1.1%); NKE averaged -3.1%.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Industry EBIT margins are contracting (-7.5pp over three years, now 6.0% at the median).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Gross margin trend: peers +3.5pp, NKE -0.6pp over three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RETURNS &amp; CASH GENERATION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Returns and cash: NKE ranks #3 of 7 on ROIC and converts 70% of earnings into free cash flow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NKE highlighted. ROIC = EBIT × (1 − tax) / average (debt + equity − cash). Source: SEC EDGAR;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DISCOUNTED CASH FLOW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DCF: $35.57 per share at a 9.2% WACC and 2.5% terminal growth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8521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892040"/>
          <a:ext cx="5852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  <a:gridCol w="82296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driver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Y2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Y3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Y4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Y5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Revenue ($m)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42,686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43,540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45,281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47,546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49,447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645920"/>
          <a:ext cx="48920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bridge ($m)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PV of forecast UFCF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11,987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PV of terminal value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40,332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Enterprise value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52,319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Less: net debt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-475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Equity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52,794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Diluted shares (m)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1,484.2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Value per share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$35.57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Terminal value % of EV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77.1%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Implied exit EV/EBITDA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Exit-multiple method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$32.99 at 8.7x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UFCF = EBIT × (1 − tax) + D&amp;A − capex − Δ working capital; mid-year discounting. Full model in the Excel workbook.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WACC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Cost of capital: 9.2% WACC from a bottom-up beta of 1.05 and an implied AAA credit rating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9494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32004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Risk-free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FRED DGS10 (10-year Treasury), 2026-10-01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Equity risk premium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Assumption (config)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Unlevered beta (peer median)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 peers, 2y weekly vs S&amp;P 500, Blume-adjusted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Relevered beta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At NKE's market D/E; own beta 1.00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Cost of equity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CAPM: rf + β × ERP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Cost of debt (pre-tax)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rf + 0.60% spread (AAA; coverage 11.8x)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Weights (equity / debt)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86% / 14%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Market cap and book debt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63840" y="1645920"/>
          <a:ext cx="3794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SENSITIVITY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Sensitivity: every ±0.5pp on WACC moves the DCF value by about $3 per share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WACC \ terminal growth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2.00%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2.25%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2.50%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2.75%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3.00%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8.20%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$39.19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$40.55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$42.04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$43.66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$45.43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8.70%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$36.16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$37.31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$38.54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$39.88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$41.33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9.20%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$33.56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$34.53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$35.57</a:t>
                      </a:r>
                    </a:p>
                  </a:txBody>
                  <a:tcPr marL="73152" marR="73152" marT="27432" marB="27432" anchor="ctr">
                    <a:solidFill>
                      <a:srgbClr val="FFE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$36.69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$37.90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9.70%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$31.30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$32.13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$33.02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$33.97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$34.99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10.20%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$29.32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$30.04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$30.80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$31.61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$32.49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9204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Green: ≥15% above the current price ($33.87). Red: ≥10% below. Orange: base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Exit-multiple method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2103120"/>
          <a:ext cx="4160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621792"/>
                <a:gridCol w="621792"/>
                <a:gridCol w="621792"/>
                <a:gridCol w="621792"/>
                <a:gridCol w="62179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WACC \ exit multiple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6.7x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7.7x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8.7x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9.7x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10.7x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8.20%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$28.46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$31.40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$34.35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$37.29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$40.24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8.70%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$27.90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$30.78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$33.66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$36.54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$39.41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9.20%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$27.36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$30.18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$32.99</a:t>
                      </a:r>
                    </a:p>
                  </a:txBody>
                  <a:tcPr marL="73152" marR="73152" marT="27432" marB="27432" anchor="ctr">
                    <a:solidFill>
                      <a:srgbClr val="FFE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$35.80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$38.62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9.70%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$26.84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$29.59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$32.34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$35.09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$37.84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10.20%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$26.33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$29.02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$31.70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$34.39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$37.08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TRADING COMPARABLES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Trading comps: NKE trades at 11.0x EV/EBITDA, a 25% premium to the peer median of 8.7x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51560"/>
                <a:gridCol w="1051560"/>
                <a:gridCol w="1097280"/>
                <a:gridCol w="1188720"/>
                <a:gridCol w="100584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Mkt cap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/ Sales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/ EBITDA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 / 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FCF yield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DECK · Deckers Outdoor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$10.8bn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$9.2bn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6.9x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LULU · Lululemon athletica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$10.0bn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$8.6bn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0.8x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6.3x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CROX · Crocs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$5.7bn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$6.8bn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29.8x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VFC · VF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$5.6bn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$8.3bn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0.9x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9.7x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22.0x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COLM · Columbia Sportswear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$2.9bn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$2.3bn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16.5x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UAA · Under Armour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$2.0bn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$2.2bn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0.4x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NKE · Nike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$50.3bn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$49.8bn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1.1x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11.0x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16.2x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0.8x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8.7x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13.5x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3095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Implied value per share for NKE: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EV/EBITDA: $27.09 (range $21.34–$30.04) · P/E: $28.36 (range $19.86–$37.51)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Multiples on latest reported fiscal year; EV uses the latest balance sheet. Negative or extreme multiples excluded.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FOOTBALL FIELD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Valuation range: methods point to $20–$72; price target $32.81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5504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1968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2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54896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52-week trading range (closing prices)</a:t>
            </a:r>
          </a:p>
        </p:txBody>
      </p:sp>
      <p:sp>
        <p:nvSpPr>
          <p:cNvPr id="11" name="Range 0"/>
          <p:cNvSpPr/>
          <p:nvPr/>
        </p:nvSpPr>
        <p:spPr>
          <a:xfrm>
            <a:off x="6185205" y="2167128"/>
            <a:ext cx="4708428" cy="347472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6525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9354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340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Trading comps: EV/EBITDA 6.9x–9.7x</a:t>
            </a:r>
          </a:p>
        </p:txBody>
      </p:sp>
      <p:sp>
        <p:nvSpPr>
          <p:cNvPr id="15" name="Range 1"/>
          <p:cNvSpPr/>
          <p:nvPr/>
        </p:nvSpPr>
        <p:spPr>
          <a:xfrm>
            <a:off x="4634978" y="2734056"/>
            <a:ext cx="1076390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6298" y="27797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7088" y="27797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009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Trading comps: P/E 9.5x–17.9x</a:t>
            </a:r>
          </a:p>
        </p:txBody>
      </p:sp>
      <p:sp>
        <p:nvSpPr>
          <p:cNvPr id="19" name="Range 2"/>
          <p:cNvSpPr/>
          <p:nvPr/>
        </p:nvSpPr>
        <p:spPr>
          <a:xfrm>
            <a:off x="4451919" y="3300984"/>
            <a:ext cx="2183706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3239" y="33467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1346" y="33467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67911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DCF: perpetuity growth (WACC ±0.5pp, g ±0.25pp)</a:t>
            </a:r>
          </a:p>
        </p:txBody>
      </p:sp>
      <p:sp>
        <p:nvSpPr>
          <p:cNvPr id="23" name="Range 3"/>
          <p:cNvSpPr/>
          <p:nvPr/>
        </p:nvSpPr>
        <p:spPr>
          <a:xfrm>
            <a:off x="5969967" y="3867911"/>
            <a:ext cx="958595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1287" y="391363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4282" y="391363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DCF: exit multiple (WACC ±0.5pp, multiple ±1x)</a:t>
            </a:r>
          </a:p>
        </p:txBody>
      </p:sp>
      <p:sp>
        <p:nvSpPr>
          <p:cNvPr id="27" name="Range 4"/>
          <p:cNvSpPr/>
          <p:nvPr/>
        </p:nvSpPr>
        <p:spPr>
          <a:xfrm>
            <a:off x="5655721" y="4434840"/>
            <a:ext cx="859401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7041" y="4480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0843" y="4480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01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Scenarios: bear to bull (DCF)</a:t>
            </a:r>
          </a:p>
        </p:txBody>
      </p:sp>
      <p:sp>
        <p:nvSpPr>
          <p:cNvPr id="31" name="Range 5"/>
          <p:cNvSpPr/>
          <p:nvPr/>
        </p:nvSpPr>
        <p:spPr>
          <a:xfrm>
            <a:off x="4778949" y="5001768"/>
            <a:ext cx="4457124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0269" y="50474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793" y="50474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$59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85205" y="1965960"/>
            <a:ext cx="0" cy="3493008"/>
          </a:xfrm>
          <a:prstGeom prst="line">
            <a:avLst/>
          </a:prstGeom>
          <a:ln w="19050">
            <a:solidFill>
              <a:srgbClr val="1F29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53495" y="1965960"/>
            <a:ext cx="0" cy="3493008"/>
          </a:xfrm>
          <a:prstGeom prst="line">
            <a:avLst/>
          </a:prstGeom>
          <a:ln w="3175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58357" y="1673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Price $33.87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1543" y="1673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200" b="1" i="0">
                <a:solidFill>
                  <a:srgbClr val="E07A1F"/>
                </a:solidFill>
                <a:latin typeface="Calibri"/>
              </a:rPr>
              <a:t>Target $32.81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Price target = 50% × DCF perpetuity ($35.57) + 25% × DCF exit multiple ($32.99) + 25% × comps EV/EBITDA ($27.09)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SCENARIO ANALYSIS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Scenarios: $23 bear, $36 base, $59 bull (DCF value per share)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BEAR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  <a:latin typeface="Cambria"/>
              </a:rPr>
              <a:t>$22.50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-34% vs current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-11.0% → +1.0%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10.2%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BASE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14213D"/>
                </a:solidFill>
                <a:latin typeface="Cambria"/>
              </a:rPr>
              <a:t>$35.57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+5% vs current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-8.0% → +4.0%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9.2%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2.5%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B8A5A"/>
                </a:solidFill>
                <a:latin typeface="Calibri"/>
              </a:rPr>
              <a:t>BULL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1B8A5A"/>
                </a:solidFill>
                <a:latin typeface="Cambria"/>
              </a:rPr>
              <a:t>$58.53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+73% vs current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-5.0% → +7.0%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13.5%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RISKS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Key risks and what would change our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Flagged by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3949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Margin compression: EBIT margin down 3.4pp over three years; the forecast assumes a recovery, which is the key swing factor.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Valuation leans on the terminal value (77% of DCF enterprise value), so it is sensitive to WACC and long-run growth (see sensitivity tables).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Premium multiple (11.0x EV/EBITDA vs peers 8.7x) despite below-median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Analyst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3035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China keeps falling: margins stall near 7% and value drops to ~$22 (our 'stuck' case).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Share loss to challenger running brands (On, Hoka) limits pricing power.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Execution slips: with recovery already priced in, there is little cushion for delays.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4348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Catalysts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846320"/>
            <a:ext cx="5303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Q2 FY27 results (expected late December): first read on China and holiday sell-through.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Signs that Greater China declines are bottoming.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Delivery of Pace savings as restructuring charges roll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Methodology, data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Data. </a:t>
            </a:r>
            <a:r>
              <a:rPr sz="1300">
                <a:solidFill>
                  <a:srgbClr val="1F2933"/>
                </a:solidFill>
                <a:latin typeface="Calibri"/>
              </a:rPr>
              <a:t>10-K/10-Q XBRL facts from SEC EDGAR for NKE and 6 peers, standardised across tag changes and restatements; every value traceable to its filing (Excel: Sources sheet). Prices: Yahoo Finance / Stooq; risk-free: FRED DGS10.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Benchmarking. </a:t>
            </a:r>
            <a:r>
              <a:rPr sz="1300">
                <a:solidFill>
                  <a:srgbClr val="1F2933"/>
                </a:solidFill>
                <a:latin typeface="Calibri"/>
              </a:rPr>
              <a:t>Latest fiscal year for each company; percentile ranks oriented so 100 = best; trends use the peer median and quartiles.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DCF. </a:t>
            </a:r>
            <a:r>
              <a:rPr sz="1300">
                <a:solidFill>
                  <a:srgbClr val="1F2933"/>
                </a:solidFill>
                <a:latin typeface="Calibri"/>
              </a:rPr>
              <a:t>5-year forecast, unlevered FCF, mid-year discounting, Gordon growth and exit-multiple terminal values.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WACC. </a:t>
            </a:r>
            <a:r>
              <a:rPr sz="1300">
                <a:solidFill>
                  <a:srgbClr val="1F2933"/>
                </a:solidFill>
                <a:latin typeface="Calibri"/>
              </a:rPr>
              <a:t>CAPM with a bottom-up beta (peer regression betas, Blume-adjusted, unlevered and relevered); cost of debt from a synthetic rating.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Price target. </a:t>
            </a:r>
            <a:r>
              <a:rPr sz="1300">
                <a:solidFill>
                  <a:srgbClr val="1F2933"/>
                </a:solidFill>
                <a:latin typeface="Calibri"/>
              </a:rPr>
              <a:t>Weighted blend of DCF (perpetuity and exit multiple) and trading comps; rating thresholds +15% / −10%.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Limitations. </a:t>
            </a:r>
            <a:r>
              <a:rPr sz="1300">
                <a:solidFill>
                  <a:srgbClr val="1F2933"/>
                </a:solidFill>
                <a:latin typeface="Calibri"/>
              </a:rPr>
              <a:t>No consensus estimates or stub-period adjustment; multiples on the latest fiscal year, not LTM; operating leases excluded from debt; peer set chosen by the analyst.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Educational research project generated with Ticker-to-Thesis. Not investment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2026-10-05 ·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