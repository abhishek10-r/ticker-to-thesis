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2933"/>
                </a:solidFill>
              </a:rPr>
              <a:t>Revenue growth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NKE</c:v>
                </c:pt>
              </c:strCache>
            </c:strRef>
          </c:tx>
          <c:spPr>
            <a:ln w="28575">
              <a:solidFill>
                <a:srgbClr val="E07A1F"/>
              </a:solidFill>
            </a:ln>
          </c:spPr>
          <c:marker>
            <c:size val="7"/>
            <c:spPr>
              <a:solidFill>
                <a:srgbClr val="E07A1F"/>
              </a:solidFill>
              <a:ln>
                <a:solidFill>
                  <a:srgbClr val="E07A1F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FY2019</c:v>
                </c:pt>
                <c:pt idx="1">
                  <c:v>FY2020</c:v>
                </c:pt>
                <c:pt idx="2">
                  <c:v>FY2021</c:v>
                </c:pt>
                <c:pt idx="3">
                  <c:v>FY2022</c:v>
                </c:pt>
                <c:pt idx="4">
                  <c:v>FY2023</c:v>
                </c:pt>
                <c:pt idx="5">
                  <c:v>FY2024</c:v>
                </c:pt>
                <c:pt idx="6">
                  <c:v>FY2025</c:v>
                </c:pt>
                <c:pt idx="7">
                  <c:v>FY2026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1">
                  <c:v>-0.04381726615026715</c:v>
                </c:pt>
                <c:pt idx="2">
                  <c:v>0.1907600994572627</c:v>
                </c:pt>
                <c:pt idx="3">
                  <c:v>0.04876734473932376</c:v>
                </c:pt>
                <c:pt idx="4">
                  <c:v>0.09648897452365657</c:v>
                </c:pt>
                <c:pt idx="5">
                  <c:v>0.0028310912392370824</c:v>
                </c:pt>
                <c:pt idx="6">
                  <c:v>-0.09838012538452556</c:v>
                </c:pt>
                <c:pt idx="7">
                  <c:v>0.0019218726381480256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Peer median</c:v>
                </c:pt>
              </c:strCache>
            </c:strRef>
          </c:tx>
          <c:spPr>
            <a:ln w="28575">
              <a:solidFill>
                <a:srgbClr val="2F5C8F"/>
              </a:solidFill>
            </a:ln>
          </c:spPr>
          <c:marker>
            <c:size val="7"/>
            <c:spPr>
              <a:solidFill>
                <a:srgbClr val="2F5C8F"/>
              </a:solidFill>
              <a:ln>
                <a:solidFill>
                  <a:srgbClr val="2F5C8F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FY2019</c:v>
                </c:pt>
                <c:pt idx="1">
                  <c:v>FY2020</c:v>
                </c:pt>
                <c:pt idx="2">
                  <c:v>FY2021</c:v>
                </c:pt>
                <c:pt idx="3">
                  <c:v>FY2022</c:v>
                </c:pt>
                <c:pt idx="4">
                  <c:v>FY2023</c:v>
                </c:pt>
                <c:pt idx="5">
                  <c:v>FY2024</c:v>
                </c:pt>
                <c:pt idx="6">
                  <c:v>FY2025</c:v>
                </c:pt>
                <c:pt idx="7">
                  <c:v>FY2026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0.1082720254524987</c:v>
                </c:pt>
                <c:pt idx="1">
                  <c:v>0.03857447537214331</c:v>
                </c:pt>
                <c:pt idx="2">
                  <c:v>0.2598656981593461</c:v>
                </c:pt>
                <c:pt idx="3">
                  <c:v>0.28174671468140455</c:v>
                </c:pt>
                <c:pt idx="4">
                  <c:v>0.07670225603833614</c:v>
                </c:pt>
                <c:pt idx="5">
                  <c:v>0.0006280949706003458</c:v>
                </c:pt>
                <c:pt idx="6">
                  <c:v>-0.003221197828257527</c:v>
                </c:pt>
                <c:pt idx="7">
                  <c:v>0.010575409553030157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D5DAE1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3E7ED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solidFill>
            <a:srgbClr val="5F6B7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2933"/>
                </a:solidFill>
              </a:rPr>
              <a:t>EBIT margin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NKE</c:v>
                </c:pt>
              </c:strCache>
            </c:strRef>
          </c:tx>
          <c:spPr>
            <a:ln w="28575">
              <a:solidFill>
                <a:srgbClr val="E07A1F"/>
              </a:solidFill>
            </a:ln>
          </c:spPr>
          <c:marker>
            <c:size val="7"/>
            <c:spPr>
              <a:solidFill>
                <a:srgbClr val="E07A1F"/>
              </a:solidFill>
              <a:ln>
                <a:solidFill>
                  <a:srgbClr val="E07A1F"/>
                </a:solidFill>
              </a:ln>
            </c:spPr>
          </c:marker>
          <c:cat>
            <c:strRef>
              <c:f>Sheet1!$A$2:$A$10</c:f>
              <c:strCache>
                <c:ptCount val="9"/>
                <c:pt idx="0">
                  <c:v>FY2018</c:v>
                </c:pt>
                <c:pt idx="1">
                  <c:v>FY2019</c:v>
                </c:pt>
                <c:pt idx="2">
                  <c:v>FY2020</c:v>
                </c:pt>
                <c:pt idx="3">
                  <c:v>FY2021</c:v>
                </c:pt>
                <c:pt idx="4">
                  <c:v>FY2022</c:v>
                </c:pt>
                <c:pt idx="5">
                  <c:v>FY2023</c:v>
                </c:pt>
                <c:pt idx="6">
                  <c:v>FY2024</c:v>
                </c:pt>
                <c:pt idx="7">
                  <c:v>FY2025</c:v>
                </c:pt>
                <c:pt idx="8">
                  <c:v>FY2026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1">
                  <c:v>0.1219929953728558</c:v>
                </c:pt>
                <c:pt idx="2">
                  <c:v>0.08328208967195144</c:v>
                </c:pt>
                <c:pt idx="3">
                  <c:v>0.15575463649018814</c:v>
                </c:pt>
                <c:pt idx="4">
                  <c:v>0.14290301862556198</c:v>
                </c:pt>
                <c:pt idx="5">
                  <c:v>0.11548899779370131</c:v>
                </c:pt>
                <c:pt idx="6">
                  <c:v>0.12287294108484872</c:v>
                </c:pt>
                <c:pt idx="7">
                  <c:v>0.07994126411712627</c:v>
                </c:pt>
                <c:pt idx="8">
                  <c:v>0.0818354239406871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Peer median</c:v>
                </c:pt>
              </c:strCache>
            </c:strRef>
          </c:tx>
          <c:spPr>
            <a:ln w="28575">
              <a:solidFill>
                <a:srgbClr val="2F5C8F"/>
              </a:solidFill>
            </a:ln>
          </c:spPr>
          <c:marker>
            <c:size val="7"/>
            <c:spPr>
              <a:solidFill>
                <a:srgbClr val="2F5C8F"/>
              </a:solidFill>
              <a:ln>
                <a:solidFill>
                  <a:srgbClr val="2F5C8F"/>
                </a:solidFill>
              </a:ln>
            </c:spPr>
          </c:marker>
          <c:cat>
            <c:strRef>
              <c:f>Sheet1!$A$2:$A$10</c:f>
              <c:strCache>
                <c:ptCount val="9"/>
                <c:pt idx="0">
                  <c:v>FY2018</c:v>
                </c:pt>
                <c:pt idx="1">
                  <c:v>FY2019</c:v>
                </c:pt>
                <c:pt idx="2">
                  <c:v>FY2020</c:v>
                </c:pt>
                <c:pt idx="3">
                  <c:v>FY2021</c:v>
                </c:pt>
                <c:pt idx="4">
                  <c:v>FY2022</c:v>
                </c:pt>
                <c:pt idx="5">
                  <c:v>FY2023</c:v>
                </c:pt>
                <c:pt idx="6">
                  <c:v>FY2024</c:v>
                </c:pt>
                <c:pt idx="7">
                  <c:v>FY2025</c:v>
                </c:pt>
                <c:pt idx="8">
                  <c:v>FY2026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0.09154435635873485</c:v>
                </c:pt>
                <c:pt idx="1">
                  <c:v>0.12287159096619622</c:v>
                </c:pt>
                <c:pt idx="2">
                  <c:v>0.12147743754250748</c:v>
                </c:pt>
                <c:pt idx="3">
                  <c:v>0.1710813299322907</c:v>
                </c:pt>
                <c:pt idx="4">
                  <c:v>0.16378830550650403</c:v>
                </c:pt>
                <c:pt idx="5">
                  <c:v>0.1350092011471762</c:v>
                </c:pt>
                <c:pt idx="6">
                  <c:v>0.1483444604522532</c:v>
                </c:pt>
                <c:pt idx="7">
                  <c:v>0.0489720207038323</c:v>
                </c:pt>
                <c:pt idx="8">
                  <c:v>0.06002671259453336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D5DAE1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3E7ED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solidFill>
            <a:srgbClr val="5F6B7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2933"/>
                </a:solidFill>
              </a:rPr>
              <a:t>Revenue growth: peer distribution vs NKE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Peer 75th percentile</c:v>
                </c:pt>
              </c:strCache>
            </c:strRef>
          </c:tx>
          <c:spPr>
            <a:ln w="28575">
              <a:solidFill>
                <a:srgbClr val="A9B8CC"/>
              </a:solidFill>
            </a:ln>
          </c:spPr>
          <c:marker>
            <c:size val="7"/>
            <c:spPr>
              <a:solidFill>
                <a:srgbClr val="A9B8CC"/>
              </a:solidFill>
              <a:ln>
                <a:solidFill>
                  <a:srgbClr val="A9B8CC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FY2019</c:v>
                </c:pt>
                <c:pt idx="1">
                  <c:v>FY2020</c:v>
                </c:pt>
                <c:pt idx="2">
                  <c:v>FY2021</c:v>
                </c:pt>
                <c:pt idx="3">
                  <c:v>FY2022</c:v>
                </c:pt>
                <c:pt idx="4">
                  <c:v>FY2023</c:v>
                </c:pt>
                <c:pt idx="5">
                  <c:v>FY2024</c:v>
                </c:pt>
                <c:pt idx="6">
                  <c:v>FY2025</c:v>
                </c:pt>
                <c:pt idx="7">
                  <c:v>FY2026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0.15066769437230537</c:v>
                </c:pt>
                <c:pt idx="1">
                  <c:v>0.09353613254539195</c:v>
                </c:pt>
                <c:pt idx="2">
                  <c:v>0.3835004360714511</c:v>
                </c:pt>
                <c:pt idx="3">
                  <c:v>0.2963104502001641</c:v>
                </c:pt>
                <c:pt idx="4">
                  <c:v>0.14219382735937086</c:v>
                </c:pt>
                <c:pt idx="5">
                  <c:v>0.0843576263166455</c:v>
                </c:pt>
                <c:pt idx="6">
                  <c:v>0.038577381699828994</c:v>
                </c:pt>
                <c:pt idx="7">
                  <c:v>0.05409655713004757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Peer median</c:v>
                </c:pt>
              </c:strCache>
            </c:strRef>
          </c:tx>
          <c:spPr>
            <a:ln w="28575">
              <a:solidFill>
                <a:srgbClr val="2F5C8F"/>
              </a:solidFill>
            </a:ln>
          </c:spPr>
          <c:marker>
            <c:size val="7"/>
            <c:spPr>
              <a:solidFill>
                <a:srgbClr val="2F5C8F"/>
              </a:solidFill>
              <a:ln>
                <a:solidFill>
                  <a:srgbClr val="2F5C8F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FY2019</c:v>
                </c:pt>
                <c:pt idx="1">
                  <c:v>FY2020</c:v>
                </c:pt>
                <c:pt idx="2">
                  <c:v>FY2021</c:v>
                </c:pt>
                <c:pt idx="3">
                  <c:v>FY2022</c:v>
                </c:pt>
                <c:pt idx="4">
                  <c:v>FY2023</c:v>
                </c:pt>
                <c:pt idx="5">
                  <c:v>FY2024</c:v>
                </c:pt>
                <c:pt idx="6">
                  <c:v>FY2025</c:v>
                </c:pt>
                <c:pt idx="7">
                  <c:v>FY2026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0.1082720254524987</c:v>
                </c:pt>
                <c:pt idx="1">
                  <c:v>0.03857447537214331</c:v>
                </c:pt>
                <c:pt idx="2">
                  <c:v>0.2598656981593461</c:v>
                </c:pt>
                <c:pt idx="3">
                  <c:v>0.28174671468140455</c:v>
                </c:pt>
                <c:pt idx="4">
                  <c:v>0.07670225603833614</c:v>
                </c:pt>
                <c:pt idx="5">
                  <c:v>0.0006280949706003458</c:v>
                </c:pt>
                <c:pt idx="6">
                  <c:v>-0.003221197828257527</c:v>
                </c:pt>
                <c:pt idx="7">
                  <c:v>0.010575409553030157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Peer 25th percentile</c:v>
                </c:pt>
              </c:strCache>
            </c:strRef>
          </c:tx>
          <c:spPr>
            <a:ln w="28575">
              <a:solidFill>
                <a:srgbClr val="A9B8CC"/>
              </a:solidFill>
            </a:ln>
          </c:spPr>
          <c:marker>
            <c:size val="7"/>
            <c:spPr>
              <a:solidFill>
                <a:srgbClr val="A9B8CC"/>
              </a:solidFill>
              <a:ln>
                <a:solidFill>
                  <a:srgbClr val="A9B8CC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FY2019</c:v>
                </c:pt>
                <c:pt idx="1">
                  <c:v>FY2020</c:v>
                </c:pt>
                <c:pt idx="2">
                  <c:v>FY2021</c:v>
                </c:pt>
                <c:pt idx="3">
                  <c:v>FY2022</c:v>
                </c:pt>
                <c:pt idx="4">
                  <c:v>FY2023</c:v>
                </c:pt>
                <c:pt idx="5">
                  <c:v>FY2024</c:v>
                </c:pt>
                <c:pt idx="6">
                  <c:v>FY2025</c:v>
                </c:pt>
                <c:pt idx="7">
                  <c:v>FY2026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0.06783284567732961</c:v>
                </c:pt>
                <c:pt idx="1">
                  <c:v>-0.10744339022222732</c:v>
                </c:pt>
                <c:pt idx="2">
                  <c:v>0.20766828274915577</c:v>
                </c:pt>
                <c:pt idx="3">
                  <c:v>0.23754252858121006</c:v>
                </c:pt>
                <c:pt idx="4">
                  <c:v>0.014694505715630968</c:v>
                </c:pt>
                <c:pt idx="5">
                  <c:v>-0.03407750643684346</c:v>
                </c:pt>
                <c:pt idx="6">
                  <c:v>-0.034831845746183476</c:v>
                </c:pt>
                <c:pt idx="7">
                  <c:v>-0.013876520453961039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NKE</c:v>
                </c:pt>
              </c:strCache>
            </c:strRef>
          </c:tx>
          <c:spPr>
            <a:ln w="28575">
              <a:solidFill>
                <a:srgbClr val="E07A1F"/>
              </a:solidFill>
            </a:ln>
          </c:spPr>
          <c:marker>
            <c:size val="7"/>
            <c:spPr>
              <a:solidFill>
                <a:srgbClr val="E07A1F"/>
              </a:solidFill>
              <a:ln>
                <a:solidFill>
                  <a:srgbClr val="E07A1F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FY2019</c:v>
                </c:pt>
                <c:pt idx="1">
                  <c:v>FY2020</c:v>
                </c:pt>
                <c:pt idx="2">
                  <c:v>FY2021</c:v>
                </c:pt>
                <c:pt idx="3">
                  <c:v>FY2022</c:v>
                </c:pt>
                <c:pt idx="4">
                  <c:v>FY2023</c:v>
                </c:pt>
                <c:pt idx="5">
                  <c:v>FY2024</c:v>
                </c:pt>
                <c:pt idx="6">
                  <c:v>FY2025</c:v>
                </c:pt>
                <c:pt idx="7">
                  <c:v>FY2026</c:v>
                </c:pt>
              </c:strCache>
            </c:strRef>
          </c:cat>
          <c:val>
            <c:numRef>
              <c:f>Sheet1!$E$2:$E$9</c:f>
              <c:numCache>
                <c:formatCode>General</c:formatCode>
                <c:ptCount val="8"/>
                <c:pt idx="1">
                  <c:v>-0.04381726615026715</c:v>
                </c:pt>
                <c:pt idx="2">
                  <c:v>0.1907600994572627</c:v>
                </c:pt>
                <c:pt idx="3">
                  <c:v>0.04876734473932376</c:v>
                </c:pt>
                <c:pt idx="4">
                  <c:v>0.09648897452365657</c:v>
                </c:pt>
                <c:pt idx="5">
                  <c:v>0.0028310912392370824</c:v>
                </c:pt>
                <c:pt idx="6">
                  <c:v>-0.09838012538452556</c:v>
                </c:pt>
                <c:pt idx="7">
                  <c:v>0.0019218726381480256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D5DAE1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3E7ED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solidFill>
            <a:srgbClr val="5F6B7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2933"/>
                </a:solidFill>
              </a:rPr>
              <a:t>ROIC (latest fiscal year)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ROIC (latest fiscal year)</c:v>
                </c:pt>
              </c:strCache>
            </c:strRef>
          </c:tx>
          <c:spPr>
            <a:solidFill>
              <a:srgbClr val="2F5C8F"/>
            </a:solidFill>
          </c:spPr>
          <c:dPt>
            <c:idx val="2"/>
            <c:spPr>
              <a:solidFill>
                <a:srgbClr val="E07A1F"/>
              </a:solidFill>
            </c:spPr>
          </c:dPt>
          <c:cat>
            <c:strRef>
              <c:f>Sheet1!$A$2:$A$8</c:f>
              <c:strCache>
                <c:ptCount val="7"/>
                <c:pt idx="0">
                  <c:v>DECK</c:v>
                </c:pt>
                <c:pt idx="1">
                  <c:v>LULU</c:v>
                </c:pt>
                <c:pt idx="2">
                  <c:v>NKE</c:v>
                </c:pt>
                <c:pt idx="3">
                  <c:v>COLM</c:v>
                </c:pt>
                <c:pt idx="4">
                  <c:v>VFC</c:v>
                </c:pt>
                <c:pt idx="5">
                  <c:v>CROX</c:v>
                </c:pt>
                <c:pt idx="6">
                  <c:v>UAA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1.4978841265811065</c:v>
                </c:pt>
                <c:pt idx="1">
                  <c:v>0.5675598085464657</c:v>
                </c:pt>
                <c:pt idx="2">
                  <c:v>0.2344944918689494</c:v>
                </c:pt>
                <c:pt idx="3">
                  <c:v>0.16963951868581043</c:v>
                </c:pt>
                <c:pt idx="4">
                  <c:v>0.08995453184119279</c:v>
                </c:pt>
                <c:pt idx="5">
                  <c:v>0.027332758580345496</c:v>
                </c:pt>
                <c:pt idx="6">
                  <c:v>-0.06021877346847122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100">
                  <a:solidFill>
                    <a:srgbClr val="1F29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D5DAE1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7ED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5F6B7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2933"/>
                </a:solidFill>
              </a:rPr>
              <a:t>FCF margin (latest fiscal year)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FCF margin (latest fiscal year)</c:v>
                </c:pt>
              </c:strCache>
            </c:strRef>
          </c:tx>
          <c:spPr>
            <a:solidFill>
              <a:srgbClr val="2F5C8F"/>
            </a:solidFill>
          </c:spPr>
          <c:dPt>
            <c:idx val="5"/>
            <c:spPr>
              <a:solidFill>
                <a:srgbClr val="E07A1F"/>
              </a:solidFill>
            </c:spPr>
          </c:dPt>
          <c:cat>
            <c:strRef>
              <c:f>Sheet1!$A$2:$A$8</c:f>
              <c:strCache>
                <c:ptCount val="7"/>
                <c:pt idx="0">
                  <c:v>DECK</c:v>
                </c:pt>
                <c:pt idx="1">
                  <c:v>CROX</c:v>
                </c:pt>
                <c:pt idx="2">
                  <c:v>LULU</c:v>
                </c:pt>
                <c:pt idx="3">
                  <c:v>COLM</c:v>
                </c:pt>
                <c:pt idx="4">
                  <c:v>VFC</c:v>
                </c:pt>
                <c:pt idx="5">
                  <c:v>NKE</c:v>
                </c:pt>
                <c:pt idx="6">
                  <c:v>UAA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0.2005249716024133</c:v>
                </c:pt>
                <c:pt idx="1">
                  <c:v>0.16314218985226872</c:v>
                </c:pt>
                <c:pt idx="2">
                  <c:v>0.08301433898366148</c:v>
                </c:pt>
                <c:pt idx="3">
                  <c:v>0.0637958809672595</c:v>
                </c:pt>
                <c:pt idx="4">
                  <c:v>0.05794430041955369</c:v>
                </c:pt>
                <c:pt idx="5">
                  <c:v>0.047070994439415495</c:v>
                </c:pt>
                <c:pt idx="6">
                  <c:v>-0.03265221882380894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100">
                  <a:solidFill>
                    <a:srgbClr val="1F29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D5DAE1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7ED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5F6B7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2933"/>
                </a:solidFill>
              </a:rPr>
              <a:t>Unlevered free cash flow ($m)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Unlevered FCF ($m)</c:v>
                </c:pt>
              </c:strCache>
            </c:strRef>
          </c:tx>
          <c:spPr>
            <a:solidFill>
              <a:srgbClr val="2F5C8F"/>
            </a:solidFill>
          </c:spPr>
          <c:cat>
            <c:strRef>
              <c:f>Sheet1!$A$2:$A$6</c:f>
              <c:strCache>
                <c:ptCount val="5"/>
                <c:pt idx="0">
                  <c:v>Y1</c:v>
                </c:pt>
                <c:pt idx="1">
                  <c:v>Y2</c:v>
                </c:pt>
                <c:pt idx="2">
                  <c:v>Y3</c:v>
                </c:pt>
                <c:pt idx="3">
                  <c:v>Y4</c:v>
                </c:pt>
                <c:pt idx="4">
                  <c:v>Y5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2457.412023544915</c:v>
                </c:pt>
                <c:pt idx="1">
                  <c:v>2275.307663818879</c:v>
                </c:pt>
                <c:pt idx="2">
                  <c:v>2890.275620227238</c:v>
                </c:pt>
                <c:pt idx="3">
                  <c:v>3493.00405909606</c:v>
                </c:pt>
                <c:pt idx="4">
                  <c:v>4095.681093787089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>
                  <a:solidFill>
                    <a:srgbClr val="1F29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D5DAE1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7ED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5F6B7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2933"/>
                </a:solidFill>
              </a:rPr>
              <a:t>Unlevered betas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Unlevered beta</c:v>
                </c:pt>
              </c:strCache>
            </c:strRef>
          </c:tx>
          <c:spPr>
            <a:solidFill>
              <a:srgbClr val="2F5C8F"/>
            </a:solidFill>
          </c:spPr>
          <c:dPt>
            <c:idx val="3"/>
            <c:spPr>
              <a:solidFill>
                <a:srgbClr val="E07A1F"/>
              </a:solidFill>
            </c:spPr>
          </c:dPt>
          <c:cat>
            <c:strRef>
              <c:f>Sheet1!$A$2:$A$8</c:f>
              <c:strCache>
                <c:ptCount val="7"/>
                <c:pt idx="0">
                  <c:v>DECK</c:v>
                </c:pt>
                <c:pt idx="1">
                  <c:v>VFC</c:v>
                </c:pt>
                <c:pt idx="2">
                  <c:v>LULU</c:v>
                </c:pt>
                <c:pt idx="3">
                  <c:v>NKE</c:v>
                </c:pt>
                <c:pt idx="4">
                  <c:v>UAA</c:v>
                </c:pt>
                <c:pt idx="5">
                  <c:v>COLM</c:v>
                </c:pt>
                <c:pt idx="6">
                  <c:v>CROX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1.231838653419015</c:v>
                </c:pt>
                <c:pt idx="1">
                  <c:v>1.1004149633224605</c:v>
                </c:pt>
                <c:pt idx="2">
                  <c:v>1.0638998589787254</c:v>
                </c:pt>
                <c:pt idx="3">
                  <c:v>0.8979052562253673</c:v>
                </c:pt>
                <c:pt idx="4">
                  <c:v>0.8263328092791826</c:v>
                </c:pt>
                <c:pt idx="5">
                  <c:v>0.7520296767954916</c:v>
                </c:pt>
                <c:pt idx="6">
                  <c:v>0.7224406134122813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>
                  <a:solidFill>
                    <a:srgbClr val="1F29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low"/>
        <c:spPr>
          <a:ln>
            <a:solidFill>
              <a:srgbClr val="D5DAE1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3E7ED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5F6B7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400" b="1" i="0">
                <a:solidFill>
                  <a:srgbClr val="E07A1F"/>
                </a:solidFill>
                <a:latin typeface="Calibri"/>
              </a:rPr>
              <a:t>EQUITY RESEARCH · INITIATION OF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NIKE,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231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600" b="0" i="0">
                <a:solidFill>
                  <a:srgbClr val="C9D1DE"/>
                </a:solidFill>
                <a:latin typeface="Calibri"/>
              </a:rPr>
              <a:t>NKE · Rubber &amp; Plastics Footwear · benchmarked against LULU, DECK, CROX, UAA, VFC, COLM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429000"/>
            <a:ext cx="24688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3584448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1" i="0">
                <a:solidFill>
                  <a:srgbClr val="5F6B7A"/>
                </a:solidFill>
                <a:latin typeface="Calibri"/>
              </a:rPr>
              <a:t>RATING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931920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3000" b="1" i="0">
                <a:solidFill>
                  <a:srgbClr val="B7791F"/>
                </a:solidFill>
                <a:latin typeface="Cambria"/>
              </a:rPr>
              <a:t>HOLD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3429000"/>
            <a:ext cx="24688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3584448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1" i="0">
                <a:solidFill>
                  <a:srgbClr val="5F6B7A"/>
                </a:solidFill>
                <a:latin typeface="Calibri"/>
              </a:rPr>
              <a:t>PRICE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931920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3000" b="1" i="0">
                <a:solidFill>
                  <a:srgbClr val="14213D"/>
                </a:solidFill>
                <a:latin typeface="Cambria"/>
              </a:rPr>
              <a:t>$32.49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429000"/>
            <a:ext cx="24688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3584448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1" i="0">
                <a:solidFill>
                  <a:srgbClr val="5F6B7A"/>
                </a:solidFill>
                <a:latin typeface="Calibri"/>
              </a:rPr>
              <a:t>CURRENT PRICE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3931920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3000" b="1" i="0">
                <a:solidFill>
                  <a:srgbClr val="14213D"/>
                </a:solidFill>
                <a:latin typeface="Cambria"/>
              </a:rPr>
              <a:t>$35.06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3429000"/>
            <a:ext cx="24688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3584448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1" i="0">
                <a:solidFill>
                  <a:srgbClr val="5F6B7A"/>
                </a:solidFill>
                <a:latin typeface="Calibri"/>
              </a:rPr>
              <a:t>IMPLIED RETURN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3931920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3000" b="1" i="0">
                <a:solidFill>
                  <a:srgbClr val="C0392B"/>
                </a:solidFill>
                <a:latin typeface="Cambria"/>
              </a:rPr>
              <a:t>-7.3%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949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Abhishek Raut · 2026-10-12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7607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0" i="0">
                <a:solidFill>
                  <a:srgbClr val="8FA0B8"/>
                </a:solidFill>
                <a:latin typeface="Calibri"/>
              </a:rPr>
              <a:t>Built from SEC EDGAR filings and public market data with Ticker-to-Thesis. Not investment advice.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1" i="0">
                <a:solidFill>
                  <a:srgbClr val="E07A1F"/>
                </a:solidFill>
                <a:latin typeface="Calibri"/>
              </a:rPr>
              <a:t>INVESTMENT SUMMARY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2600" b="1" i="0">
                <a:solidFill>
                  <a:srgbClr val="14213D"/>
                </a:solidFill>
                <a:latin typeface="Cambria"/>
              </a:rPr>
              <a:t>HOLD: $32.49 price target implies 7% downside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3108960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1" i="0">
                <a:solidFill>
                  <a:srgbClr val="5F6B7A"/>
                </a:solidFill>
                <a:latin typeface="Calibri"/>
              </a:rPr>
              <a:t>RATING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48840"/>
            <a:ext cx="2743200" cy="68580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3400" b="1" i="0">
                <a:solidFill>
                  <a:srgbClr val="B7791F"/>
                </a:solidFill>
                <a:latin typeface="Cambria"/>
              </a:rPr>
              <a:t>HOLD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154680"/>
            <a:ext cx="3108960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29184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1" i="0">
                <a:solidFill>
                  <a:srgbClr val="5F6B7A"/>
                </a:solidFill>
                <a:latin typeface="Calibri"/>
              </a:rPr>
              <a:t>PRICE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611880"/>
            <a:ext cx="2743200" cy="68580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3400" b="1" i="0">
                <a:solidFill>
                  <a:srgbClr val="14213D"/>
                </a:solidFill>
                <a:latin typeface="Cambria"/>
              </a:rPr>
              <a:t>$32.49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617720"/>
            <a:ext cx="3108960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7548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1" i="0">
                <a:solidFill>
                  <a:srgbClr val="5F6B7A"/>
                </a:solidFill>
                <a:latin typeface="Calibri"/>
              </a:rPr>
              <a:t>IMPLIED RETURN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074920"/>
            <a:ext cx="2743200" cy="68580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3400" b="1" i="0">
                <a:solidFill>
                  <a:srgbClr val="C0392B"/>
                </a:solidFill>
                <a:latin typeface="Cambria"/>
              </a:rPr>
              <a:t>-7.3%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1691640"/>
            <a:ext cx="7498079" cy="32004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600" b="1" i="0">
                <a:solidFill>
                  <a:srgbClr val="14213D"/>
                </a:solidFill>
                <a:latin typeface="Calibri"/>
              </a:rPr>
              <a:t>Investment 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103120"/>
            <a:ext cx="7498079" cy="2926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000">
                <a:solidFill>
                  <a:srgbClr val="E07A1F"/>
                </a:solidFill>
                <a:latin typeface="Calibri"/>
              </a:rPr>
              <a:t>■  </a:t>
            </a:r>
            <a:r>
              <a:rPr sz="1400">
                <a:solidFill>
                  <a:srgbClr val="1F2933"/>
                </a:solidFill>
                <a:latin typeface="Calibri"/>
              </a:rPr>
              <a:t>The turnaround is already in the price: at ~$34, the market discounts EBIT margins rebuilding to ~11% by FY31. That is our base case too, so we see fair value, not a bargain.</a:t>
            </a:r>
          </a:p>
          <a:p>
            <a:pPr>
              <a:spcAft>
                <a:spcPts val="1000"/>
              </a:spcAft>
            </a:pPr>
            <a:r>
              <a:rPr sz="1000">
                <a:solidFill>
                  <a:srgbClr val="E07A1F"/>
                </a:solidFill>
                <a:latin typeface="Calibri"/>
              </a:rPr>
              <a:t>■  </a:t>
            </a:r>
            <a:r>
              <a:rPr sz="1400">
                <a:solidFill>
                  <a:srgbClr val="1F2933"/>
                </a:solidFill>
                <a:latin typeface="Calibri"/>
              </a:rPr>
              <a:t>FY27 is a reset year: management guides revenue down high-single digits and adj. EPS of $1.15-1.35. We model -8% revenue and a ~5% EBIT margin.</a:t>
            </a:r>
          </a:p>
          <a:p>
            <a:pPr>
              <a:spcAft>
                <a:spcPts val="1000"/>
              </a:spcAft>
            </a:pPr>
            <a:r>
              <a:rPr sz="1000">
                <a:solidFill>
                  <a:srgbClr val="E07A1F"/>
                </a:solidFill>
                <a:latin typeface="Calibri"/>
              </a:rPr>
              <a:t>■  </a:t>
            </a:r>
            <a:r>
              <a:rPr sz="1400">
                <a:solidFill>
                  <a:srgbClr val="1F2933"/>
                </a:solidFill>
                <a:latin typeface="Calibri"/>
              </a:rPr>
              <a:t>Self-help is real but back-end loaded: ~$2.5bn of Pace savings by FY31, inventory down 3% y/y and gross margin up 60bp in Q1 support the rebuild; China (-22% in Q1) is the swing factor.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5074920"/>
            <a:ext cx="7498079" cy="10972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5166360"/>
            <a:ext cx="7223760" cy="91440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300" b="1" i="0">
                <a:solidFill>
                  <a:srgbClr val="14213D"/>
                </a:solidFill>
                <a:latin typeface="Calibri"/>
              </a:rPr>
              <a:t>Valuation: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Price target $32.49 vs $35.06 current: -7.3% implied return → HOLD. DCF (perpetuity growth 2.5%, WACC 9.2%): $35.47 per share; exit-multiple method (8.6x EBITDA): $32.47.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Calibri"/>
              </a:rPr>
              <a:t>Source: SEC EDGAR (10-K/10-Q XBRL), market data; Ticker-to-Thesis analysis.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640080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Calibri"/>
              </a:rPr>
              <a:t>NKE · 2026-10-12 ·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1" i="0">
                <a:solidFill>
                  <a:srgbClr val="E07A1F"/>
                </a:solidFill>
                <a:latin typeface="Calibri"/>
              </a:rPr>
              <a:t>COMPANY SNAPSHOT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2600" b="1" i="0">
                <a:solidFill>
                  <a:srgbClr val="14213D"/>
                </a:solidFill>
                <a:latin typeface="Cambria"/>
              </a:rPr>
              <a:t>NIKE: $46.4bn revenue, +0.2% growth and a 8.2% EBIT margin in FY2026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91640"/>
          <a:ext cx="72237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051560"/>
                <a:gridCol w="1051560"/>
                <a:gridCol w="1051560"/>
                <a:gridCol w="1051560"/>
                <a:gridCol w="105156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$m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FY2022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FY2023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FY2024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FY2025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FY2026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Revenue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46,710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51,217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51,362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46,309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46,398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Growth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4.9%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9.6%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0.3%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-9.8%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0.2%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Gross margin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46.0%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43.5%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44.6%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42.7%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42.9%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EBIT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6,675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5,915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6,311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3,702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3,797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EBIT margin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14.3%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11.5%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12.3%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8.0%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8.2%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Net income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6,046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5,070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5,700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3,219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3,108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Free cash flow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4,430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4,872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6,617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3,268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2,184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ROIC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59.4%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40.3%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44.7%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25.8%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23.4%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Net debt / EBITDA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-0.5x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-0.3x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-0.4x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-0.3x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-0.2x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8138160" y="1691640"/>
            <a:ext cx="3520440" cy="43434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0" y="182880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200" b="0" i="0">
                <a:solidFill>
                  <a:srgbClr val="5F6B7A"/>
                </a:solidFill>
                <a:latin typeface="Calibri"/>
              </a:rPr>
              <a:t>Market cap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29800" y="1828800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300" b="1" i="0">
                <a:solidFill>
                  <a:srgbClr val="1F2933"/>
                </a:solidFill>
                <a:latin typeface="Calibri"/>
              </a:rPr>
              <a:t>$52.0bn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2350008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200" b="0" i="0">
                <a:solidFill>
                  <a:srgbClr val="5F6B7A"/>
                </a:solidFill>
                <a:latin typeface="Calibri"/>
              </a:rPr>
              <a:t>Enterprise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0" y="2350008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300" b="1" i="0">
                <a:solidFill>
                  <a:srgbClr val="1F2933"/>
                </a:solidFill>
                <a:latin typeface="Calibri"/>
              </a:rPr>
              <a:t>$51.6bn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871215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200" b="0" i="0">
                <a:solidFill>
                  <a:srgbClr val="5F6B7A"/>
                </a:solidFill>
                <a:latin typeface="Calibri"/>
              </a:rPr>
              <a:t>Net debt / (cash)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29800" y="2871215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300" b="1" i="0">
                <a:solidFill>
                  <a:srgbClr val="1F2933"/>
                </a:solidFill>
                <a:latin typeface="Calibri"/>
              </a:rPr>
              <a:t>($475m)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3392424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200" b="0" i="0">
                <a:solidFill>
                  <a:srgbClr val="5F6B7A"/>
                </a:solidFill>
                <a:latin typeface="Calibri"/>
              </a:rPr>
              <a:t>EV / EBITDA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29800" y="3392424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300" b="1" i="0">
                <a:solidFill>
                  <a:srgbClr val="1F2933"/>
                </a:solidFill>
                <a:latin typeface="Calibri"/>
              </a:rPr>
              <a:t>11.3x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913631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200" b="0" i="0">
                <a:solidFill>
                  <a:srgbClr val="5F6B7A"/>
                </a:solidFill>
                <a:latin typeface="Calibri"/>
              </a:rPr>
              <a:t>P / 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29800" y="3913631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300" b="1" i="0">
                <a:solidFill>
                  <a:srgbClr val="1F2933"/>
                </a:solidFill>
                <a:latin typeface="Calibri"/>
              </a:rPr>
              <a:t>16.7x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443484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200" b="0" i="0">
                <a:solidFill>
                  <a:srgbClr val="5F6B7A"/>
                </a:solidFill>
                <a:latin typeface="Calibri"/>
              </a:rPr>
              <a:t>52-week range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9800" y="4434840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300" b="1" i="0">
                <a:solidFill>
                  <a:srgbClr val="1F2933"/>
                </a:solidFill>
                <a:latin typeface="Calibri"/>
              </a:rPr>
              <a:t>$33.87 – $69.68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4956048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200" b="0" i="0">
                <a:solidFill>
                  <a:srgbClr val="5F6B7A"/>
                </a:solidFill>
                <a:latin typeface="Calibri"/>
              </a:rPr>
              <a:t>Fiscal year 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29800" y="4956048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300" b="1" i="0">
                <a:solidFill>
                  <a:srgbClr val="1F2933"/>
                </a:solidFill>
                <a:latin typeface="Calibri"/>
              </a:rPr>
              <a:t>05/31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5477256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200" b="0" i="0">
                <a:solidFill>
                  <a:srgbClr val="5F6B7A"/>
                </a:solidFill>
                <a:latin typeface="Calibri"/>
              </a:rPr>
              <a:t>Industry (SIC)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29800" y="5477256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300" b="1" i="0">
                <a:solidFill>
                  <a:srgbClr val="1F2933"/>
                </a:solidFill>
                <a:latin typeface="Calibri"/>
              </a:rPr>
              <a:t>3021 Rubber &amp; Plastics Footwear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Calibri"/>
              </a:rPr>
              <a:t>Source: SEC EDGAR (10-K/10-Q XBRL), market data; Ticker-to-Thesis analysis.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640080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Calibri"/>
              </a:rPr>
              <a:t>NKE · 2026-10-12 ·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1" i="0">
                <a:solidFill>
                  <a:srgbClr val="E07A1F"/>
                </a:solidFill>
                <a:latin typeface="Calibri"/>
              </a:rPr>
              <a:t>FINANCIAL PERFORMANCE VS PEERS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2600" b="1" i="0">
                <a:solidFill>
                  <a:srgbClr val="14213D"/>
                </a:solidFill>
                <a:latin typeface="Cambria"/>
              </a:rPr>
              <a:t>EBIT margin is 2.1pp above the peer median; 3-year revenue CAGR -3.2% vs +1.9% for peers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45920"/>
          <a:ext cx="548640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172200" y="1645920"/>
          <a:ext cx="5486400" cy="40233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300" b="0" i="0">
                <a:solidFill>
                  <a:srgbClr val="1F2933"/>
                </a:solidFill>
                <a:latin typeface="Calibri"/>
              </a:rPr>
              <a:t>Profitability: EBIT margin of 8.2% ranks at the 64th percentile of the group (peer median 6.0%). Over three years it moved -3.4pp while the peer median moved -7.5pp.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Calibri"/>
              </a:rPr>
              <a:t>Source: SEC EDGAR (10-K/10-Q XBRL), market data; Ticker-to-Thesis analysis.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0080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Calibri"/>
              </a:rPr>
              <a:t>NKE · 2026-10-12 ·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1" i="0">
                <a:solidFill>
                  <a:srgbClr val="E07A1F"/>
                </a:solidFill>
                <a:latin typeface="Calibri"/>
              </a:rPr>
              <a:t>PEER BENCHMARKING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2600" b="1" i="0">
                <a:solidFill>
                  <a:srgbClr val="14213D"/>
                </a:solidFill>
                <a:latin typeface="Cambria"/>
              </a:rPr>
              <a:t>Benchmark scorecard: NKE trails the peer median on 6 of 11 metrics and leads on 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642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1463040"/>
                <a:gridCol w="1463040"/>
                <a:gridCol w="2286000"/>
                <a:gridCol w="1097280"/>
                <a:gridCol w="118872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NKE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Peer median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Peer range (Q1–Q3)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Percentile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Revenue growth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0.2%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1.0%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-0.9% – 3.9%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Worse</a:t>
                      </a:r>
                    </a:p>
                  </a:txBody>
                  <a:tcPr marL="73152" marR="73152" marT="27432" marB="27432" anchor="ctr">
                    <a:solidFill>
                      <a:srgbClr val="F8D9D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Revenue CAGR (3y)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-3.2%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1.9%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-3.7% – 9.4%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Worse</a:t>
                      </a:r>
                    </a:p>
                  </a:txBody>
                  <a:tcPr marL="73152" marR="73152" marT="27432" marB="27432" anchor="ctr">
                    <a:solidFill>
                      <a:srgbClr val="F8D9D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Gross margin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42.9%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55.7%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51.6% – 57.4%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Worse</a:t>
                      </a:r>
                    </a:p>
                  </a:txBody>
                  <a:tcPr marL="73152" marR="73152" marT="27432" marB="27432" anchor="ctr">
                    <a:solidFill>
                      <a:srgbClr val="F8D9D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EBIT margin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8.2%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6.0%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4.3% – 16.5%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Better</a:t>
                      </a:r>
                    </a:p>
                  </a:txBody>
                  <a:tcPr marL="73152" marR="73152" marT="27432" marB="27432" anchor="ctr">
                    <a:solidFill>
                      <a:srgbClr val="D7EF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ROIC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23.4%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13.0%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4.3% – 46.8%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Better</a:t>
                      </a:r>
                    </a:p>
                  </a:txBody>
                  <a:tcPr marL="73152" marR="73152" marT="27432" marB="27432" anchor="ctr">
                    <a:solidFill>
                      <a:srgbClr val="D7EF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FCF margin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4.7%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7.3%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5.9% – 14.3%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Worse</a:t>
                      </a:r>
                    </a:p>
                  </a:txBody>
                  <a:tcPr marL="73152" marR="73152" marT="27432" marB="27432" anchor="ctr">
                    <a:solidFill>
                      <a:srgbClr val="F8D9D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FCF conversion (FCF / net income)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70.3%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114.7%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95.0% – 146.3%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Worse</a:t>
                      </a:r>
                    </a:p>
                  </a:txBody>
                  <a:tcPr marL="73152" marR="73152" marT="27432" marB="27432" anchor="ctr">
                    <a:solidFill>
                      <a:srgbClr val="F8D9D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Net debt / EBITDA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-0.2x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-0.7x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-1.4x – 3.2x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Worse</a:t>
                      </a:r>
                    </a:p>
                  </a:txBody>
                  <a:tcPr marL="73152" marR="73152" marT="27432" marB="27432" anchor="ctr">
                    <a:solidFill>
                      <a:srgbClr val="F8D9D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Interest coverage (EBIT / interest)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11.8x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3.5x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1.7x – 499.2x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58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Better</a:t>
                      </a:r>
                    </a:p>
                  </a:txBody>
                  <a:tcPr marL="73152" marR="73152" marT="27432" marB="27432" anchor="ctr">
                    <a:solidFill>
                      <a:srgbClr val="D7EF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Inventory days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103 days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119 days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89 days – 127 days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Better</a:t>
                      </a:r>
                    </a:p>
                  </a:txBody>
                  <a:tcPr marL="73152" marR="73152" marT="27432" marB="27432" anchor="ctr">
                    <a:solidFill>
                      <a:srgbClr val="D7EF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Cash conversion cycle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100 days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109 days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100 days – 110 days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58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Better</a:t>
                      </a:r>
                    </a:p>
                  </a:txBody>
                  <a:tcPr marL="73152" marR="73152" marT="27432" marB="27432" anchor="ctr">
                    <a:solidFill>
                      <a:srgbClr val="D7EFE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Calibri"/>
              </a:rPr>
              <a:t>Percentile: rank within the peer group, oriented so 100 = best (e.g. lower leverage scores higher). Latest fiscal year.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640080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Calibri"/>
              </a:rPr>
              <a:t>NKE · 2026-10-12 ·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1" i="0">
                <a:solidFill>
                  <a:srgbClr val="E07A1F"/>
                </a:solidFill>
                <a:latin typeface="Calibri"/>
              </a:rPr>
              <a:t>INDUSTRY TRENDS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2600" b="1" i="0">
                <a:solidFill>
                  <a:srgbClr val="14213D"/>
                </a:solidFill>
                <a:latin typeface="Cambria"/>
              </a:rPr>
              <a:t>Industry backdrop: peer revenue growth averaged +0.3% a year and margins are contracting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45920"/>
          <a:ext cx="658368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498079" y="1691640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600" b="1" i="0">
                <a:solidFill>
                  <a:srgbClr val="14213D"/>
                </a:solidFill>
                <a:latin typeface="Calibri"/>
              </a:rPr>
              <a:t>What the peer group tells 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2148840"/>
            <a:ext cx="411480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</a:pPr>
            <a:r>
              <a:rPr sz="1000">
                <a:solidFill>
                  <a:srgbClr val="E07A1F"/>
                </a:solidFill>
                <a:latin typeface="Calibri"/>
              </a:rPr>
              <a:t>■  </a:t>
            </a:r>
            <a:r>
              <a:rPr sz="1400">
                <a:solidFill>
                  <a:srgbClr val="1F2933"/>
                </a:solidFill>
                <a:latin typeface="Calibri"/>
              </a:rPr>
              <a:t>Peer-group revenue growth has averaged +0.3% a year over the last three years (latest +1.1%); NKE averaged -3.1%.</a:t>
            </a:r>
          </a:p>
          <a:p>
            <a:pPr>
              <a:spcAft>
                <a:spcPts val="1200"/>
              </a:spcAft>
            </a:pPr>
            <a:r>
              <a:rPr sz="1000">
                <a:solidFill>
                  <a:srgbClr val="E07A1F"/>
                </a:solidFill>
                <a:latin typeface="Calibri"/>
              </a:rPr>
              <a:t>■  </a:t>
            </a:r>
            <a:r>
              <a:rPr sz="1400">
                <a:solidFill>
                  <a:srgbClr val="1F2933"/>
                </a:solidFill>
                <a:latin typeface="Calibri"/>
              </a:rPr>
              <a:t>Industry EBIT margins are contracting (-7.5pp over three years, now 6.0% at the median).</a:t>
            </a:r>
          </a:p>
          <a:p>
            <a:pPr>
              <a:spcAft>
                <a:spcPts val="1200"/>
              </a:spcAft>
            </a:pPr>
            <a:r>
              <a:rPr sz="1000">
                <a:solidFill>
                  <a:srgbClr val="E07A1F"/>
                </a:solidFill>
                <a:latin typeface="Calibri"/>
              </a:rPr>
              <a:t>■  </a:t>
            </a:r>
            <a:r>
              <a:rPr sz="1400">
                <a:solidFill>
                  <a:srgbClr val="1F2933"/>
                </a:solidFill>
                <a:latin typeface="Calibri"/>
              </a:rPr>
              <a:t>Gross margin trend: peers +3.5pp, NKE -0.6pp over three years.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Calibri"/>
              </a:rPr>
              <a:t>Source: SEC EDGAR (10-K/10-Q XBRL), market data; Ticker-to-Thesis analysis.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0080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Calibri"/>
              </a:rPr>
              <a:t>NKE · 2026-10-12 ·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1" i="0">
                <a:solidFill>
                  <a:srgbClr val="E07A1F"/>
                </a:solidFill>
                <a:latin typeface="Calibri"/>
              </a:rPr>
              <a:t>RETURNS &amp; CASH GENERATION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2600" b="1" i="0">
                <a:solidFill>
                  <a:srgbClr val="14213D"/>
                </a:solidFill>
                <a:latin typeface="Cambria"/>
              </a:rPr>
              <a:t>Returns and cash: NKE ranks #3 of 7 on ROIC and converts 70% of earnings into free cash flow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45920"/>
          <a:ext cx="548640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172200" y="1645920"/>
          <a:ext cx="5486400" cy="42976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Calibri"/>
              </a:rPr>
              <a:t>NKE highlighted. ROIC = EBIT × (1 − tax) / average (debt + equity − cash). Source: SEC EDGAR; Ticker-to-Thesis analysis.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40080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Calibri"/>
              </a:rPr>
              <a:t>NKE · 2026-10-12 ·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1" i="0">
                <a:solidFill>
                  <a:srgbClr val="E07A1F"/>
                </a:solidFill>
                <a:latin typeface="Calibri"/>
              </a:rPr>
              <a:t>VALUATION · DISCOUNTED CASH FLOW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2600" b="1" i="0">
                <a:solidFill>
                  <a:srgbClr val="14213D"/>
                </a:solidFill>
                <a:latin typeface="Cambria"/>
              </a:rPr>
              <a:t>DCF: $35.47 per share at a 9.2% WACC and 2.5% terminal growth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45920"/>
          <a:ext cx="585216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4892040"/>
          <a:ext cx="58521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822960"/>
                <a:gridCol w="822960"/>
                <a:gridCol w="822960"/>
                <a:gridCol w="822960"/>
                <a:gridCol w="82296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Forecast driver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Y1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Y2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Y3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Y4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Y5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2933"/>
                          </a:solidFill>
                          <a:latin typeface="Calibri"/>
                        </a:rPr>
                        <a:t>Revenue growth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-8.0%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2.0%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4.0%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5.0%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4.0%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2933"/>
                          </a:solidFill>
                          <a:latin typeface="Calibri"/>
                        </a:rPr>
                        <a:t>EBIT margin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5.0%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7.0%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9.0%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10.5%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11.5%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2933"/>
                          </a:solidFill>
                          <a:latin typeface="Calibri"/>
                        </a:rPr>
                        <a:t>Revenue ($m)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42,686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43,540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45,281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47,546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49,447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766560" y="1645920"/>
          <a:ext cx="4892040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01168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EV bridge ($m)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PV of forecast UFCF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11,982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PV of terminal value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40,192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Enterprise value</a:t>
                      </a:r>
                    </a:p>
                  </a:txBody>
                  <a:tcPr marL="73152" marR="73152" marT="27432" marB="27432" anchor="ctr">
                    <a:solidFill>
                      <a:srgbClr val="FFF4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52,174</a:t>
                      </a:r>
                    </a:p>
                  </a:txBody>
                  <a:tcPr marL="73152" marR="73152" marT="27432" marB="27432" anchor="ctr">
                    <a:solidFill>
                      <a:srgbClr val="FFF4E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Less: net debt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-475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Equity value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52,649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Diluted shares (m)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1,484.2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Value per share</a:t>
                      </a:r>
                    </a:p>
                  </a:txBody>
                  <a:tcPr marL="73152" marR="73152" marT="27432" marB="27432" anchor="ctr">
                    <a:solidFill>
                      <a:srgbClr val="FFF4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$35.47</a:t>
                      </a:r>
                    </a:p>
                  </a:txBody>
                  <a:tcPr marL="73152" marR="73152" marT="27432" marB="27432" anchor="ctr">
                    <a:solidFill>
                      <a:srgbClr val="FFF4E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Terminal value % of EV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77.0%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Implied exit EV/EBITDA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9.6x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Exit-multiple method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$32.47 at 8.6x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Calibri"/>
              </a:rPr>
              <a:t>UFCF = EBIT × (1 − tax) + D&amp;A − capex − Δ working capital; mid-year discounting. Full model in the Excel workbook.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0080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Calibri"/>
              </a:rPr>
              <a:t>NKE · 2026-10-12 ·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1" i="0">
                <a:solidFill>
                  <a:srgbClr val="E07A1F"/>
                </a:solidFill>
                <a:latin typeface="Calibri"/>
              </a:rPr>
              <a:t>VALUATION · WACC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2600" b="1" i="0">
                <a:solidFill>
                  <a:srgbClr val="14213D"/>
                </a:solidFill>
                <a:latin typeface="Cambria"/>
              </a:rPr>
              <a:t>Cost of capital: 9.2% WACC from a bottom-up beta of 1.05 and an implied AAA credit rating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6949440" cy="3785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188720"/>
                <a:gridCol w="320040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Basis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Risk-free rate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5.2%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FRED DGS10 (10-year Treasury), 2026-10-08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Equity risk premium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4.5%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Assumption (config)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Unlevered beta (peer median)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0.95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6 peers, 2y weekly vs S&amp;P 500, Blume-adjusted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Relevered beta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1.05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At NKE's market D/E; own beta 1.00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Cost of equity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10.0%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CAPM: rf + β × ERP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Cost of debt (pre-tax)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5.8%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rf + 0.60% spread (AAA; coverage 11.8x)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Weights (equity / debt)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87% / 13%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Market cap and book debt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WACC</a:t>
                      </a:r>
                    </a:p>
                  </a:txBody>
                  <a:tcPr marL="73152" marR="73152" marT="27432" marB="27432" anchor="ctr">
                    <a:solidFill>
                      <a:srgbClr val="FFF4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9.2%</a:t>
                      </a:r>
                    </a:p>
                  </a:txBody>
                  <a:tcPr marL="73152" marR="73152" marT="27432" marB="27432" anchor="ctr">
                    <a:solidFill>
                      <a:srgbClr val="FFF4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FF4E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863840" y="1645920"/>
          <a:ext cx="379476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Calibri"/>
              </a:rPr>
              <a:t>Source: SEC EDGAR (10-K/10-Q XBRL), market data; Ticker-to-Thesis analysis.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40080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Calibri"/>
              </a:rPr>
              <a:t>NKE · 2026-10-12 ·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1" i="0">
                <a:solidFill>
                  <a:srgbClr val="E07A1F"/>
                </a:solidFill>
                <a:latin typeface="Calibri"/>
              </a:rPr>
              <a:t>VALUATION · SENSITIVITY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2600" b="1" i="0">
                <a:solidFill>
                  <a:srgbClr val="14213D"/>
                </a:solidFill>
                <a:latin typeface="Cambria"/>
              </a:rPr>
              <a:t>Sensitivity: every ±0.5pp on WACC moves the DCF value by about $3 per share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37360"/>
          <a:ext cx="65836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914400"/>
                <a:gridCol w="914400"/>
                <a:gridCol w="914400"/>
                <a:gridCol w="914400"/>
                <a:gridCol w="91440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WACC \ terminal growth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2.00%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2.25%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2.50%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2.75%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3.00%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2933"/>
                          </a:solidFill>
                          <a:latin typeface="Calibri"/>
                        </a:rPr>
                        <a:t>8.22%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$39.07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$40.43</a:t>
                      </a:r>
                    </a:p>
                  </a:txBody>
                  <a:tcPr marL="73152" marR="73152" marT="27432" marB="27432" anchor="ctr">
                    <a:solidFill>
                      <a:srgbClr val="D7EF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$41.90</a:t>
                      </a:r>
                    </a:p>
                  </a:txBody>
                  <a:tcPr marL="73152" marR="73152" marT="27432" marB="27432" anchor="ctr">
                    <a:solidFill>
                      <a:srgbClr val="D7EF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$43.51</a:t>
                      </a:r>
                    </a:p>
                  </a:txBody>
                  <a:tcPr marL="73152" marR="73152" marT="27432" marB="27432" anchor="ctr">
                    <a:solidFill>
                      <a:srgbClr val="D7EF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$45.27</a:t>
                      </a:r>
                    </a:p>
                  </a:txBody>
                  <a:tcPr marL="73152" marR="73152" marT="27432" marB="27432" anchor="ctr">
                    <a:solidFill>
                      <a:srgbClr val="D7EFE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2933"/>
                          </a:solidFill>
                          <a:latin typeface="Calibri"/>
                        </a:rPr>
                        <a:t>8.72%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$36.06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$37.20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$38.43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$39.76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$41.20</a:t>
                      </a:r>
                    </a:p>
                  </a:txBody>
                  <a:tcPr marL="73152" marR="73152" marT="27432" marB="27432" anchor="ctr">
                    <a:solidFill>
                      <a:srgbClr val="D7EFE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2933"/>
                          </a:solidFill>
                          <a:latin typeface="Calibri"/>
                        </a:rPr>
                        <a:t>9.22%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$33.48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$34.44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$35.47</a:t>
                      </a:r>
                    </a:p>
                  </a:txBody>
                  <a:tcPr marL="73152" marR="73152" marT="27432" marB="27432" anchor="ctr">
                    <a:solidFill>
                      <a:srgbClr val="FFE2C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$36.59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$37.79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2933"/>
                          </a:solidFill>
                          <a:latin typeface="Calibri"/>
                        </a:rPr>
                        <a:t>9.72%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$31.23</a:t>
                      </a:r>
                    </a:p>
                  </a:txBody>
                  <a:tcPr marL="73152" marR="73152" marT="27432" marB="27432" anchor="ctr">
                    <a:solidFill>
                      <a:srgbClr val="F8D9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$32.05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$32.93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$33.88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$34.90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2933"/>
                          </a:solidFill>
                          <a:latin typeface="Calibri"/>
                        </a:rPr>
                        <a:t>10.22%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$29.25</a:t>
                      </a:r>
                    </a:p>
                  </a:txBody>
                  <a:tcPr marL="73152" marR="73152" marT="27432" marB="27432" anchor="ctr">
                    <a:solidFill>
                      <a:srgbClr val="F8D9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$29.97</a:t>
                      </a:r>
                    </a:p>
                  </a:txBody>
                  <a:tcPr marL="73152" marR="73152" marT="27432" marB="27432" anchor="ctr">
                    <a:solidFill>
                      <a:srgbClr val="F8D9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$30.73</a:t>
                      </a:r>
                    </a:p>
                  </a:txBody>
                  <a:tcPr marL="73152" marR="73152" marT="27432" marB="27432" anchor="ctr">
                    <a:solidFill>
                      <a:srgbClr val="F8D9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$31.54</a:t>
                      </a:r>
                    </a:p>
                  </a:txBody>
                  <a:tcPr marL="73152" marR="73152" marT="27432" marB="27432" anchor="ctr">
                    <a:solidFill>
                      <a:srgbClr val="F8D9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2933"/>
                          </a:solidFill>
                          <a:latin typeface="Calibri"/>
                        </a:rPr>
                        <a:t>$32.40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892040"/>
            <a:ext cx="6583680" cy="54864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200" b="0" i="0">
                <a:solidFill>
                  <a:srgbClr val="5F6B7A"/>
                </a:solidFill>
                <a:latin typeface="Calibri"/>
              </a:rPr>
              <a:t>Green: ≥15% above the current price ($35.06). Red: ≥10% below. Orange: base case.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173736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400" b="1" i="0">
                <a:solidFill>
                  <a:srgbClr val="14213D"/>
                </a:solidFill>
                <a:latin typeface="Calibri"/>
              </a:rPr>
              <a:t>Exit-multiple method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498079" y="2103120"/>
          <a:ext cx="41605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621792"/>
                <a:gridCol w="621792"/>
                <a:gridCol w="621792"/>
                <a:gridCol w="621792"/>
                <a:gridCol w="621792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WACC \ exit multiple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6.6x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7.6x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8.6x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9.6x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10.6x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2933"/>
                          </a:solidFill>
                          <a:latin typeface="Calibri"/>
                        </a:rPr>
                        <a:t>8.22%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$27.91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$30.85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$33.80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$36.74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$39.68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2933"/>
                          </a:solidFill>
                          <a:latin typeface="Calibri"/>
                        </a:rPr>
                        <a:t>8.72%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$27.37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$30.25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$33.12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$36.00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$38.87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2933"/>
                          </a:solidFill>
                          <a:latin typeface="Calibri"/>
                        </a:rPr>
                        <a:t>9.22%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$26.84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$29.65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$32.47</a:t>
                      </a:r>
                    </a:p>
                  </a:txBody>
                  <a:tcPr marL="73152" marR="73152" marT="27432" marB="27432" anchor="ctr">
                    <a:solidFill>
                      <a:srgbClr val="FFE2C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$35.28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$38.09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2933"/>
                          </a:solidFill>
                          <a:latin typeface="Calibri"/>
                        </a:rPr>
                        <a:t>9.72%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$26.33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$29.08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$31.83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$34.57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$37.32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2933"/>
                          </a:solidFill>
                          <a:latin typeface="Calibri"/>
                        </a:rPr>
                        <a:t>10.22%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$25.83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$28.52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$31.20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$33.89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933"/>
                          </a:solidFill>
                          <a:latin typeface="Calibri"/>
                        </a:rPr>
                        <a:t>$36.57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Calibri"/>
              </a:rPr>
              <a:t>Source: SEC EDGAR (10-K/10-Q XBRL), market data; Ticker-to-Thesis analysis.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0080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Calibri"/>
              </a:rPr>
              <a:t>NKE · 2026-10-12 ·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1" i="0">
                <a:solidFill>
                  <a:srgbClr val="E07A1F"/>
                </a:solidFill>
                <a:latin typeface="Calibri"/>
              </a:rPr>
              <a:t>VALUATION · TRADING COMPARABLES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2600" b="1" i="0">
                <a:solidFill>
                  <a:srgbClr val="14213D"/>
                </a:solidFill>
                <a:latin typeface="Cambria"/>
              </a:rPr>
              <a:t>Trading comps: NKE trades at 11.3x EV/EBITDA, a 32% premium to the peer median of 8.6x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6424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051560"/>
                <a:gridCol w="1051560"/>
                <a:gridCol w="1097280"/>
                <a:gridCol w="1188720"/>
                <a:gridCol w="1005840"/>
                <a:gridCol w="1188720"/>
                <a:gridCol w="118872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Company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Mkt cap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EV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EV / Sales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EV / EBITDA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 / E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EBIT margin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FCF yield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DECK · Deckers Outdoor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$11.4bn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$9.8bn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1.8x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7.3x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11.1x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23.1%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9.6%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LULU · Lululemon athletica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$10.0bn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$8.6bn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0.8x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3.2x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6.3x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19.9%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9.3%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VFC · VF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$6.2bn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$8.9bn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0.9x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10.4x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24.2x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6.0%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9.0%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CROX · Crocs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$5.7bn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$6.8bn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1.7x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29.8x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3.7%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11.7%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COLM · Columbia Sportswear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$2.9bn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$2.3bn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0.7x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8.6x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16.3x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6.1%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7.5%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UAA · Under Armour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$2.1bn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$2.3bn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0.5x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-3.3%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-7.6%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NKE · Nike</a:t>
                      </a:r>
                    </a:p>
                  </a:txBody>
                  <a:tcPr marL="73152" marR="73152" marT="27432" marB="27432" anchor="ctr">
                    <a:solidFill>
                      <a:srgbClr val="FFF4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$52.0bn</a:t>
                      </a:r>
                    </a:p>
                  </a:txBody>
                  <a:tcPr marL="73152" marR="73152" marT="27432" marB="27432" anchor="ctr">
                    <a:solidFill>
                      <a:srgbClr val="FFF4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$51.6bn</a:t>
                      </a:r>
                    </a:p>
                  </a:txBody>
                  <a:tcPr marL="73152" marR="73152" marT="27432" marB="27432" anchor="ctr">
                    <a:solidFill>
                      <a:srgbClr val="FFF4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1.1x</a:t>
                      </a:r>
                    </a:p>
                  </a:txBody>
                  <a:tcPr marL="73152" marR="73152" marT="27432" marB="27432" anchor="ctr">
                    <a:solidFill>
                      <a:srgbClr val="FFF4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11.3x</a:t>
                      </a:r>
                    </a:p>
                  </a:txBody>
                  <a:tcPr marL="73152" marR="73152" marT="27432" marB="27432" anchor="ctr">
                    <a:solidFill>
                      <a:srgbClr val="FFF4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16.7x</a:t>
                      </a:r>
                    </a:p>
                  </a:txBody>
                  <a:tcPr marL="73152" marR="73152" marT="27432" marB="27432" anchor="ctr">
                    <a:solidFill>
                      <a:srgbClr val="FFF4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8.2%</a:t>
                      </a:r>
                    </a:p>
                  </a:txBody>
                  <a:tcPr marL="73152" marR="73152" marT="27432" marB="27432" anchor="ctr">
                    <a:solidFill>
                      <a:srgbClr val="FFF4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4.2%</a:t>
                      </a:r>
                    </a:p>
                  </a:txBody>
                  <a:tcPr marL="73152" marR="73152" marT="27432" marB="27432" anchor="ctr">
                    <a:solidFill>
                      <a:srgbClr val="FFF4E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933"/>
                          </a:solidFill>
                          <a:latin typeface="Calibri"/>
                        </a:rPr>
                        <a:t>Peer median</a:t>
                      </a:r>
                    </a:p>
                  </a:txBody>
                  <a:tcPr marL="73152" marR="73152" marT="27432" marB="27432" anchor="ctr">
                    <a:solidFill>
                      <a:srgbClr val="E3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E3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E3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0.8x</a:t>
                      </a:r>
                    </a:p>
                  </a:txBody>
                  <a:tcPr marL="73152" marR="73152" marT="27432" marB="27432" anchor="ctr">
                    <a:solidFill>
                      <a:srgbClr val="E3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8.6x</a:t>
                      </a:r>
                    </a:p>
                  </a:txBody>
                  <a:tcPr marL="73152" marR="73152" marT="27432" marB="27432" anchor="ctr">
                    <a:solidFill>
                      <a:srgbClr val="E3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13.7x</a:t>
                      </a:r>
                    </a:p>
                  </a:txBody>
                  <a:tcPr marL="73152" marR="73152" marT="27432" marB="27432" anchor="ctr">
                    <a:solidFill>
                      <a:srgbClr val="E3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6.0%</a:t>
                      </a:r>
                    </a:p>
                  </a:txBody>
                  <a:tcPr marL="73152" marR="73152" marT="27432" marB="27432" anchor="ctr">
                    <a:solidFill>
                      <a:srgbClr val="E3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933"/>
                          </a:solidFill>
                          <a:latin typeface="Calibri"/>
                        </a:rPr>
                        <a:t>9.1%</a:t>
                      </a:r>
                    </a:p>
                  </a:txBody>
                  <a:tcPr marL="73152" marR="73152" marT="27432" marB="27432" anchor="ctr">
                    <a:solidFill>
                      <a:srgbClr val="E3E8F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33095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300" b="1" i="0">
                <a:solidFill>
                  <a:srgbClr val="14213D"/>
                </a:solidFill>
                <a:latin typeface="Calibri"/>
              </a:rPr>
              <a:t>Implied value per share for NKE: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EV/EBITDA: $26.54 (range $22.72–$32.05) · P/E: $28.69 (range $20.78–$38.25)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Calibri"/>
              </a:rPr>
              <a:t>Multiples on latest reported fiscal year; EV uses the latest balance sheet. Negative or extreme multiples excluded.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40080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Calibri"/>
              </a:rPr>
              <a:t>NKE · 2026-10-12 ·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1" i="0">
                <a:solidFill>
                  <a:srgbClr val="E07A1F"/>
                </a:solidFill>
                <a:latin typeface="Calibri"/>
              </a:rPr>
              <a:t>VALUATION · FOOTBALL FIELD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2600" b="1" i="0">
                <a:solidFill>
                  <a:srgbClr val="14213D"/>
                </a:solidFill>
                <a:latin typeface="Cambria"/>
              </a:rPr>
              <a:t>Valuation range: methods point to $21–$70; price target $32.49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9039" y="55046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/>
            <a:r>
              <a:rPr sz="1100" b="0" i="0">
                <a:solidFill>
                  <a:srgbClr val="5F6B7A"/>
                </a:solidFill>
                <a:latin typeface="Calibri"/>
              </a:rPr>
              <a:t>$19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75504" y="55046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/>
            <a:r>
              <a:rPr sz="1100" b="0" i="0">
                <a:solidFill>
                  <a:srgbClr val="5F6B7A"/>
                </a:solidFill>
                <a:latin typeface="Calibri"/>
              </a:rPr>
              <a:t>$30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1968" y="55046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/>
            <a:r>
              <a:rPr sz="1100" b="0" i="0">
                <a:solidFill>
                  <a:srgbClr val="5F6B7A"/>
                </a:solidFill>
                <a:latin typeface="Calibri"/>
              </a:rPr>
              <a:t>$40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28432" y="55046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/>
            <a:r>
              <a:rPr sz="1100" b="0" i="0">
                <a:solidFill>
                  <a:srgbClr val="5F6B7A"/>
                </a:solidFill>
                <a:latin typeface="Calibri"/>
              </a:rPr>
              <a:t>$51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54896" y="55046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/>
            <a:r>
              <a:rPr sz="1100" b="0" i="0">
                <a:solidFill>
                  <a:srgbClr val="5F6B7A"/>
                </a:solidFill>
                <a:latin typeface="Calibri"/>
              </a:rPr>
              <a:t>$62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55046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/>
            <a:r>
              <a:rPr sz="1100" b="0" i="0">
                <a:solidFill>
                  <a:srgbClr val="5F6B7A"/>
                </a:solidFill>
                <a:latin typeface="Calibri"/>
              </a:rPr>
              <a:t>$73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67128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200" b="0" i="0">
                <a:solidFill>
                  <a:srgbClr val="1F2933"/>
                </a:solidFill>
                <a:latin typeface="Calibri"/>
              </a:rPr>
              <a:t>52-week trading range (closing prices)</a:t>
            </a:r>
          </a:p>
        </p:txBody>
      </p:sp>
      <p:sp>
        <p:nvSpPr>
          <p:cNvPr id="11" name="Range 0"/>
          <p:cNvSpPr/>
          <p:nvPr/>
        </p:nvSpPr>
        <p:spPr>
          <a:xfrm>
            <a:off x="6192868" y="2167128"/>
            <a:ext cx="4689449" cy="347472"/>
          </a:xfrm>
          <a:prstGeom prst="rect">
            <a:avLst/>
          </a:prstGeom>
          <a:solidFill>
            <a:srgbClr val="8A94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24188" y="221284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100" b="0" i="0">
                <a:solidFill>
                  <a:srgbClr val="5F6B7A"/>
                </a:solidFill>
                <a:latin typeface="Calibri"/>
              </a:rPr>
              <a:t>$34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28037" y="221284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0" i="0">
                <a:solidFill>
                  <a:srgbClr val="5F6B7A"/>
                </a:solidFill>
                <a:latin typeface="Calibri"/>
              </a:rPr>
              <a:t>$70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734056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200" b="0" i="0">
                <a:solidFill>
                  <a:srgbClr val="1F2933"/>
                </a:solidFill>
                <a:latin typeface="Calibri"/>
              </a:rPr>
              <a:t>Trading comps: EV/EBITDA 7.3x–10.4x</a:t>
            </a:r>
          </a:p>
        </p:txBody>
      </p:sp>
      <p:sp>
        <p:nvSpPr>
          <p:cNvPr id="15" name="Range 1"/>
          <p:cNvSpPr/>
          <p:nvPr/>
        </p:nvSpPr>
        <p:spPr>
          <a:xfrm>
            <a:off x="4732357" y="2734056"/>
            <a:ext cx="1221908" cy="347472"/>
          </a:xfrm>
          <a:prstGeom prst="rect">
            <a:avLst/>
          </a:prstGeom>
          <a:solidFill>
            <a:srgbClr val="2F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63677" y="27797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100" b="0" i="0">
                <a:solidFill>
                  <a:srgbClr val="5F6B7A"/>
                </a:solidFill>
                <a:latin typeface="Calibri"/>
              </a:rPr>
              <a:t>$23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99985" y="27797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0" i="0">
                <a:solidFill>
                  <a:srgbClr val="5F6B7A"/>
                </a:solidFill>
                <a:latin typeface="Calibri"/>
              </a:rPr>
              <a:t>$32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300984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200" b="0" i="0">
                <a:solidFill>
                  <a:srgbClr val="1F2933"/>
                </a:solidFill>
                <a:latin typeface="Calibri"/>
              </a:rPr>
              <a:t>Trading comps: P/E 9.9x–18.3x</a:t>
            </a:r>
          </a:p>
        </p:txBody>
      </p:sp>
      <p:sp>
        <p:nvSpPr>
          <p:cNvPr id="19" name="Range 2"/>
          <p:cNvSpPr/>
          <p:nvPr/>
        </p:nvSpPr>
        <p:spPr>
          <a:xfrm>
            <a:off x="4478325" y="3300984"/>
            <a:ext cx="2287868" cy="347472"/>
          </a:xfrm>
          <a:prstGeom prst="rect">
            <a:avLst/>
          </a:prstGeom>
          <a:solidFill>
            <a:srgbClr val="2F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09645" y="334670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100" b="0" i="0">
                <a:solidFill>
                  <a:srgbClr val="5F6B7A"/>
                </a:solidFill>
                <a:latin typeface="Calibri"/>
              </a:rPr>
              <a:t>$21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1913" y="334670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0" i="0">
                <a:solidFill>
                  <a:srgbClr val="5F6B7A"/>
                </a:solidFill>
                <a:latin typeface="Calibri"/>
              </a:rPr>
              <a:t>$38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867911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200" b="0" i="0">
                <a:solidFill>
                  <a:srgbClr val="1F2933"/>
                </a:solidFill>
                <a:latin typeface="Calibri"/>
              </a:rPr>
              <a:t>DCF: perpetuity growth (WACC ±0.5pp, g ±0.25pp)</a:t>
            </a:r>
          </a:p>
        </p:txBody>
      </p:sp>
      <p:sp>
        <p:nvSpPr>
          <p:cNvPr id="23" name="Range 3"/>
          <p:cNvSpPr/>
          <p:nvPr/>
        </p:nvSpPr>
        <p:spPr>
          <a:xfrm>
            <a:off x="5954632" y="3867911"/>
            <a:ext cx="1009055" cy="347472"/>
          </a:xfrm>
          <a:prstGeom prst="rect">
            <a:avLst/>
          </a:prstGeom>
          <a:solidFill>
            <a:srgbClr val="2F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85952" y="3913631"/>
            <a:ext cx="82296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100" b="0" i="0">
                <a:solidFill>
                  <a:srgbClr val="5F6B7A"/>
                </a:solidFill>
                <a:latin typeface="Calibri"/>
              </a:rPr>
              <a:t>$32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09407" y="3913631"/>
            <a:ext cx="82296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0" i="0">
                <a:solidFill>
                  <a:srgbClr val="5F6B7A"/>
                </a:solidFill>
                <a:latin typeface="Calibri"/>
              </a:rPr>
              <a:t>$40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43484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200" b="0" i="0">
                <a:solidFill>
                  <a:srgbClr val="1F2933"/>
                </a:solidFill>
                <a:latin typeface="Calibri"/>
              </a:rPr>
              <a:t>DCF: exit multiple (WACC ±0.5pp, multiple ±1x)</a:t>
            </a:r>
          </a:p>
        </p:txBody>
      </p:sp>
      <p:sp>
        <p:nvSpPr>
          <p:cNvPr id="27" name="Range 4"/>
          <p:cNvSpPr/>
          <p:nvPr/>
        </p:nvSpPr>
        <p:spPr>
          <a:xfrm>
            <a:off x="5565477" y="4434840"/>
            <a:ext cx="905946" cy="347472"/>
          </a:xfrm>
          <a:prstGeom prst="rect">
            <a:avLst/>
          </a:prstGeom>
          <a:solidFill>
            <a:srgbClr val="2F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96797" y="448056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100" b="0" i="0">
                <a:solidFill>
                  <a:srgbClr val="5F6B7A"/>
                </a:solidFill>
                <a:latin typeface="Calibri"/>
              </a:rPr>
              <a:t>$29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7144" y="448056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0" i="0">
                <a:solidFill>
                  <a:srgbClr val="5F6B7A"/>
                </a:solidFill>
                <a:latin typeface="Calibri"/>
              </a:rPr>
              <a:t>$36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001768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200" b="0" i="0">
                <a:solidFill>
                  <a:srgbClr val="1F2933"/>
                </a:solidFill>
                <a:latin typeface="Calibri"/>
              </a:rPr>
              <a:t>Scenarios: bear to bull (DCF)</a:t>
            </a:r>
          </a:p>
        </p:txBody>
      </p:sp>
      <p:sp>
        <p:nvSpPr>
          <p:cNvPr id="31" name="Range 5"/>
          <p:cNvSpPr/>
          <p:nvPr/>
        </p:nvSpPr>
        <p:spPr>
          <a:xfrm>
            <a:off x="4697712" y="5001768"/>
            <a:ext cx="4697593" cy="347472"/>
          </a:xfrm>
          <a:prstGeom prst="rect">
            <a:avLst/>
          </a:prstGeom>
          <a:solidFill>
            <a:srgbClr val="2F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29032" y="50474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100" b="0" i="0">
                <a:solidFill>
                  <a:srgbClr val="5F6B7A"/>
                </a:solidFill>
                <a:latin typeface="Calibri"/>
              </a:rPr>
              <a:t>$22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41025" y="50474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0" i="0">
                <a:solidFill>
                  <a:srgbClr val="5F6B7A"/>
                </a:solidFill>
                <a:latin typeface="Calibri"/>
              </a:rPr>
              <a:t>$58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348048" y="1965960"/>
            <a:ext cx="0" cy="3493008"/>
          </a:xfrm>
          <a:prstGeom prst="line">
            <a:avLst/>
          </a:prstGeom>
          <a:ln w="19050">
            <a:solidFill>
              <a:srgbClr val="1F29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011986" y="1965960"/>
            <a:ext cx="0" cy="3493008"/>
          </a:xfrm>
          <a:prstGeom prst="line">
            <a:avLst/>
          </a:prstGeom>
          <a:ln w="31750">
            <a:solidFill>
              <a:srgbClr val="E07A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421200" y="16733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200" b="1" i="0">
                <a:solidFill>
                  <a:srgbClr val="1F2933"/>
                </a:solidFill>
                <a:latin typeface="Calibri"/>
              </a:rPr>
              <a:t>Price $35.06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0034" y="16733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200" b="1" i="0">
                <a:solidFill>
                  <a:srgbClr val="E07A1F"/>
                </a:solidFill>
                <a:latin typeface="Calibri"/>
              </a:rPr>
              <a:t>Target $32.49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200" b="0" i="0">
                <a:solidFill>
                  <a:srgbClr val="5F6B7A"/>
                </a:solidFill>
                <a:latin typeface="Calibri"/>
              </a:rPr>
              <a:t>Price target = 50% × DCF perpetuity ($35.47) + 25% × DCF exit multiple ($32.47) + 25% × comps EV/EBITDA ($26.54)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Calibri"/>
              </a:rPr>
              <a:t>Source: SEC EDGAR (10-K/10-Q XBRL), market data; Ticker-to-Thesis analysis.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0" y="640080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Calibri"/>
              </a:rPr>
              <a:t>NKE · 2026-10-12 ·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1" i="0">
                <a:solidFill>
                  <a:srgbClr val="E07A1F"/>
                </a:solidFill>
                <a:latin typeface="Calibri"/>
              </a:rPr>
              <a:t>SCENARIO ANALYSIS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2600" b="1" i="0">
                <a:solidFill>
                  <a:srgbClr val="14213D"/>
                </a:solidFill>
                <a:latin typeface="Cambria"/>
              </a:rPr>
              <a:t>Scenarios: $22 bear, $35 base, $58 bull (DCF value per share)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3474720" cy="42976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82880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Calibri"/>
              </a:rPr>
              <a:t>BEAR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240280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3600" b="1" i="0">
                <a:solidFill>
                  <a:srgbClr val="C0392B"/>
                </a:solidFill>
                <a:latin typeface="Cambria"/>
              </a:rPr>
              <a:t>$22.45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01752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300" b="0" i="0">
                <a:solidFill>
                  <a:srgbClr val="5F6B7A"/>
                </a:solidFill>
                <a:latin typeface="Calibri"/>
              </a:rPr>
              <a:t>-36% vs current price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61188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300" b="0" i="0">
                <a:solidFill>
                  <a:srgbClr val="5F6B7A"/>
                </a:solidFill>
                <a:latin typeface="Calibri"/>
              </a:rPr>
              <a:t>Revenue growth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361188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300" b="1" i="0">
                <a:solidFill>
                  <a:srgbClr val="1F2933"/>
                </a:solidFill>
                <a:latin typeface="Calibri"/>
              </a:rPr>
              <a:t>-11.0% → +1.0%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416052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300" b="0" i="0">
                <a:solidFill>
                  <a:srgbClr val="5F6B7A"/>
                </a:solidFill>
                <a:latin typeface="Calibri"/>
              </a:rPr>
              <a:t>EBIT margin (Y5)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4160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300" b="1" i="0">
                <a:solidFill>
                  <a:srgbClr val="1F2933"/>
                </a:solidFill>
                <a:latin typeface="Calibri"/>
              </a:rPr>
              <a:t>9.5%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470916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300" b="0" i="0">
                <a:solidFill>
                  <a:srgbClr val="5F6B7A"/>
                </a:solidFill>
                <a:latin typeface="Calibri"/>
              </a:rPr>
              <a:t>WACC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470916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300" b="1" i="0">
                <a:solidFill>
                  <a:srgbClr val="1F2933"/>
                </a:solidFill>
                <a:latin typeface="Calibri"/>
              </a:rPr>
              <a:t>10.2%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525780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300" b="0" i="0">
                <a:solidFill>
                  <a:srgbClr val="5F6B7A"/>
                </a:solidFill>
                <a:latin typeface="Calibri"/>
              </a:rPr>
              <a:t>Terminal growth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52578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300" b="1" i="0">
                <a:solidFill>
                  <a:srgbClr val="1F2933"/>
                </a:solidFill>
                <a:latin typeface="Calibri"/>
              </a:rPr>
              <a:t>2.0%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79" y="1691640"/>
            <a:ext cx="3474720" cy="42976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1999" y="182880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300" b="1" i="0">
                <a:solidFill>
                  <a:srgbClr val="14213D"/>
                </a:solidFill>
                <a:latin typeface="Calibri"/>
              </a:rPr>
              <a:t>BASE CASE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1999" y="2240280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3600" b="1" i="0">
                <a:solidFill>
                  <a:srgbClr val="14213D"/>
                </a:solidFill>
                <a:latin typeface="Cambria"/>
              </a:rPr>
              <a:t>$35.47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1999" y="301752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300" b="0" i="0">
                <a:solidFill>
                  <a:srgbClr val="5F6B7A"/>
                </a:solidFill>
                <a:latin typeface="Calibri"/>
              </a:rPr>
              <a:t>+1% vs current price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1999" y="361188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300" b="0" i="0">
                <a:solidFill>
                  <a:srgbClr val="5F6B7A"/>
                </a:solidFill>
                <a:latin typeface="Calibri"/>
              </a:rPr>
              <a:t>Revenue growth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79" y="361188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300" b="1" i="0">
                <a:solidFill>
                  <a:srgbClr val="1F2933"/>
                </a:solidFill>
                <a:latin typeface="Calibri"/>
              </a:rPr>
              <a:t>-8.0% → +4.0%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416052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300" b="0" i="0">
                <a:solidFill>
                  <a:srgbClr val="5F6B7A"/>
                </a:solidFill>
                <a:latin typeface="Calibri"/>
              </a:rPr>
              <a:t>EBIT margin (Y5)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79" y="4160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300" b="1" i="0">
                <a:solidFill>
                  <a:srgbClr val="1F2933"/>
                </a:solidFill>
                <a:latin typeface="Calibri"/>
              </a:rPr>
              <a:t>11.5%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1999" y="470916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300" b="0" i="0">
                <a:solidFill>
                  <a:srgbClr val="5F6B7A"/>
                </a:solidFill>
                <a:latin typeface="Calibri"/>
              </a:rPr>
              <a:t>WACC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79" y="470916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300" b="1" i="0">
                <a:solidFill>
                  <a:srgbClr val="1F2933"/>
                </a:solidFill>
                <a:latin typeface="Calibri"/>
              </a:rPr>
              <a:t>9.2%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1999" y="525780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300" b="0" i="0">
                <a:solidFill>
                  <a:srgbClr val="5F6B7A"/>
                </a:solidFill>
                <a:latin typeface="Calibri"/>
              </a:rPr>
              <a:t>Terminal growth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79" y="52578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300" b="1" i="0">
                <a:solidFill>
                  <a:srgbClr val="1F2933"/>
                </a:solidFill>
                <a:latin typeface="Calibri"/>
              </a:rPr>
              <a:t>2.5%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19" y="1691640"/>
            <a:ext cx="3474720" cy="42976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182880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300" b="1" i="0">
                <a:solidFill>
                  <a:srgbClr val="1B8A5A"/>
                </a:solidFill>
                <a:latin typeface="Calibri"/>
              </a:rPr>
              <a:t>BULL CASE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2240280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3600" b="1" i="0">
                <a:solidFill>
                  <a:srgbClr val="1B8A5A"/>
                </a:solidFill>
                <a:latin typeface="Cambria"/>
              </a:rPr>
              <a:t>$58.32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301752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300" b="0" i="0">
                <a:solidFill>
                  <a:srgbClr val="5F6B7A"/>
                </a:solidFill>
                <a:latin typeface="Calibri"/>
              </a:rPr>
              <a:t>+66% vs current price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361188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300" b="0" i="0">
                <a:solidFill>
                  <a:srgbClr val="5F6B7A"/>
                </a:solidFill>
                <a:latin typeface="Calibri"/>
              </a:rPr>
              <a:t>Revenue growth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19" y="361188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300" b="1" i="0">
                <a:solidFill>
                  <a:srgbClr val="1F2933"/>
                </a:solidFill>
                <a:latin typeface="Calibri"/>
              </a:rPr>
              <a:t>-5.0% → +7.0%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416052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300" b="0" i="0">
                <a:solidFill>
                  <a:srgbClr val="5F6B7A"/>
                </a:solidFill>
                <a:latin typeface="Calibri"/>
              </a:rPr>
              <a:t>EBIT margin (Y5)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19" y="4160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300" b="1" i="0">
                <a:solidFill>
                  <a:srgbClr val="1F2933"/>
                </a:solidFill>
                <a:latin typeface="Calibri"/>
              </a:rPr>
              <a:t>13.5%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470916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300" b="0" i="0">
                <a:solidFill>
                  <a:srgbClr val="5F6B7A"/>
                </a:solidFill>
                <a:latin typeface="Calibri"/>
              </a:rPr>
              <a:t>WACC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19" y="470916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300" b="1" i="0">
                <a:solidFill>
                  <a:srgbClr val="1F2933"/>
                </a:solidFill>
                <a:latin typeface="Calibri"/>
              </a:rPr>
              <a:t>8.2%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525780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300" b="0" i="0">
                <a:solidFill>
                  <a:srgbClr val="5F6B7A"/>
                </a:solidFill>
                <a:latin typeface="Calibri"/>
              </a:rPr>
              <a:t>Terminal growth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75519" y="52578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300" b="1" i="0">
                <a:solidFill>
                  <a:srgbClr val="1F2933"/>
                </a:solidFill>
                <a:latin typeface="Calibri"/>
              </a:rPr>
              <a:t>3.0%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Calibri"/>
              </a:rPr>
              <a:t>Source: SEC EDGAR (10-K/10-Q XBRL), market data; Ticker-to-Thesis analysis.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0" y="640080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Calibri"/>
              </a:rPr>
              <a:t>NKE · 2026-10-12 ·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1" i="0">
                <a:solidFill>
                  <a:srgbClr val="E07A1F"/>
                </a:solidFill>
                <a:latin typeface="Calibri"/>
              </a:rPr>
              <a:t>RISKS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2600" b="1" i="0">
                <a:solidFill>
                  <a:srgbClr val="14213D"/>
                </a:solidFill>
                <a:latin typeface="Cambria"/>
              </a:rPr>
              <a:t>Key risks and what would change our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600" b="1" i="0">
                <a:solidFill>
                  <a:srgbClr val="14213D"/>
                </a:solidFill>
                <a:latin typeface="Calibri"/>
              </a:rPr>
              <a:t>Flagged by the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48840"/>
            <a:ext cx="5394960" cy="4023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900">
                <a:solidFill>
                  <a:srgbClr val="C0392B"/>
                </a:solidFill>
                <a:latin typeface="Calibri"/>
              </a:rPr>
              <a:t>■  </a:t>
            </a:r>
            <a:r>
              <a:rPr sz="1300">
                <a:solidFill>
                  <a:srgbClr val="1F2933"/>
                </a:solidFill>
                <a:latin typeface="Calibri"/>
              </a:rPr>
              <a:t>Margin compression: EBIT margin down 3.4pp over three years; the forecast assumes a recovery, which is the key swing factor.</a:t>
            </a:r>
          </a:p>
          <a:p>
            <a:pPr>
              <a:spcAft>
                <a:spcPts val="1000"/>
              </a:spcAft>
            </a:pPr>
            <a:r>
              <a:rPr sz="900">
                <a:solidFill>
                  <a:srgbClr val="C0392B"/>
                </a:solidFill>
                <a:latin typeface="Calibri"/>
              </a:rPr>
              <a:t>■  </a:t>
            </a:r>
            <a:r>
              <a:rPr sz="1300">
                <a:solidFill>
                  <a:srgbClr val="1F2933"/>
                </a:solidFill>
                <a:latin typeface="Calibri"/>
              </a:rPr>
              <a:t>Valuation leans on the terminal value (77% of DCF enterprise value), so it is sensitive to WACC and long-run growth (see sensitivity tables).</a:t>
            </a:r>
          </a:p>
          <a:p>
            <a:pPr>
              <a:spcAft>
                <a:spcPts val="1000"/>
              </a:spcAft>
            </a:pPr>
            <a:r>
              <a:rPr sz="900">
                <a:solidFill>
                  <a:srgbClr val="C0392B"/>
                </a:solidFill>
                <a:latin typeface="Calibri"/>
              </a:rPr>
              <a:t>■  </a:t>
            </a:r>
            <a:r>
              <a:rPr sz="1300">
                <a:solidFill>
                  <a:srgbClr val="1F2933"/>
                </a:solidFill>
                <a:latin typeface="Calibri"/>
              </a:rPr>
              <a:t>Premium multiple (11.3x EV/EBITDA vs peers 8.6x) despite below-median growth.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691640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600" b="1" i="0">
                <a:solidFill>
                  <a:srgbClr val="14213D"/>
                </a:solidFill>
                <a:latin typeface="Calibri"/>
              </a:rPr>
              <a:t>Analyst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148840"/>
            <a:ext cx="5303520" cy="2377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900">
                <a:solidFill>
                  <a:srgbClr val="C0392B"/>
                </a:solidFill>
                <a:latin typeface="Calibri"/>
              </a:rPr>
              <a:t>■  </a:t>
            </a:r>
            <a:r>
              <a:rPr sz="1300">
                <a:solidFill>
                  <a:srgbClr val="1F2933"/>
                </a:solidFill>
                <a:latin typeface="Calibri"/>
              </a:rPr>
              <a:t>China keeps falling: margins stall near 7% and value drops to ~$22 (our 'stuck' case).</a:t>
            </a:r>
          </a:p>
          <a:p>
            <a:pPr>
              <a:spcAft>
                <a:spcPts val="1000"/>
              </a:spcAft>
            </a:pPr>
            <a:r>
              <a:rPr sz="900">
                <a:solidFill>
                  <a:srgbClr val="C0392B"/>
                </a:solidFill>
                <a:latin typeface="Calibri"/>
              </a:rPr>
              <a:t>■  </a:t>
            </a:r>
            <a:r>
              <a:rPr sz="1300">
                <a:solidFill>
                  <a:srgbClr val="1F2933"/>
                </a:solidFill>
                <a:latin typeface="Calibri"/>
              </a:rPr>
              <a:t>Share loss to challenger running brands (On, Hoka) limits pricing power.</a:t>
            </a:r>
          </a:p>
          <a:p>
            <a:pPr>
              <a:spcAft>
                <a:spcPts val="1000"/>
              </a:spcAft>
            </a:pPr>
            <a:r>
              <a:rPr sz="900">
                <a:solidFill>
                  <a:srgbClr val="C0392B"/>
                </a:solidFill>
                <a:latin typeface="Calibri"/>
              </a:rPr>
              <a:t>■  </a:t>
            </a:r>
            <a:r>
              <a:rPr sz="1300">
                <a:solidFill>
                  <a:srgbClr val="1F2933"/>
                </a:solidFill>
                <a:latin typeface="Calibri"/>
              </a:rPr>
              <a:t>Execution slips: with recovery already priced in, there is little cushion for delays.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4434840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600" b="1" i="0">
                <a:solidFill>
                  <a:srgbClr val="14213D"/>
                </a:solidFill>
                <a:latin typeface="Calibri"/>
              </a:rPr>
              <a:t>Catalysts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4846320"/>
            <a:ext cx="530352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900">
                <a:solidFill>
                  <a:srgbClr val="1B8A5A"/>
                </a:solidFill>
                <a:latin typeface="Calibri"/>
              </a:rPr>
              <a:t>■  </a:t>
            </a:r>
            <a:r>
              <a:rPr sz="1300">
                <a:solidFill>
                  <a:srgbClr val="1F2933"/>
                </a:solidFill>
                <a:latin typeface="Calibri"/>
              </a:rPr>
              <a:t>Q2 FY27 results (expected late December): first read on China and holiday sell-through.</a:t>
            </a:r>
          </a:p>
          <a:p>
            <a:pPr>
              <a:spcAft>
                <a:spcPts val="800"/>
              </a:spcAft>
            </a:pPr>
            <a:r>
              <a:rPr sz="900">
                <a:solidFill>
                  <a:srgbClr val="1B8A5A"/>
                </a:solidFill>
                <a:latin typeface="Calibri"/>
              </a:rPr>
              <a:t>■  </a:t>
            </a:r>
            <a:r>
              <a:rPr sz="1300">
                <a:solidFill>
                  <a:srgbClr val="1F2933"/>
                </a:solidFill>
                <a:latin typeface="Calibri"/>
              </a:rPr>
              <a:t>Signs that Greater China declines are bottoming.</a:t>
            </a:r>
          </a:p>
          <a:p>
            <a:pPr>
              <a:spcAft>
                <a:spcPts val="800"/>
              </a:spcAft>
            </a:pPr>
            <a:r>
              <a:rPr sz="900">
                <a:solidFill>
                  <a:srgbClr val="1B8A5A"/>
                </a:solidFill>
                <a:latin typeface="Calibri"/>
              </a:rPr>
              <a:t>■  </a:t>
            </a:r>
            <a:r>
              <a:rPr sz="1300">
                <a:solidFill>
                  <a:srgbClr val="1F2933"/>
                </a:solidFill>
                <a:latin typeface="Calibri"/>
              </a:rPr>
              <a:t>Delivery of Pace savings as restructuring charges roll off.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Calibri"/>
              </a:rPr>
              <a:t>Source: SEC EDGAR (10-K/10-Q XBRL), market data; Ticker-to-Thesis analysis.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640080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Calibri"/>
              </a:rPr>
              <a:t>NKE · 2026-10-12 ·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00" b="1" i="0">
                <a:solidFill>
                  <a:srgbClr val="E07A1F"/>
                </a:solidFill>
                <a:latin typeface="Calibri"/>
              </a:rPr>
              <a:t>APPENDIX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2600" b="1" i="0">
                <a:solidFill>
                  <a:srgbClr val="14213D"/>
                </a:solidFill>
                <a:latin typeface="Cambria"/>
              </a:rPr>
              <a:t>Methodology, data and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1064240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900">
                <a:solidFill>
                  <a:srgbClr val="E07A1F"/>
                </a:solidFill>
                <a:latin typeface="Calibri"/>
              </a:rPr>
              <a:t>■  </a:t>
            </a:r>
            <a:r>
              <a:rPr b="1" sz="1300">
                <a:solidFill>
                  <a:srgbClr val="1F2933"/>
                </a:solidFill>
                <a:latin typeface="Calibri"/>
              </a:rPr>
              <a:t>Data. </a:t>
            </a:r>
            <a:r>
              <a:rPr sz="1300">
                <a:solidFill>
                  <a:srgbClr val="1F2933"/>
                </a:solidFill>
                <a:latin typeface="Calibri"/>
              </a:rPr>
              <a:t>10-K/10-Q XBRL facts from SEC EDGAR for NKE and 6 peers, standardised across tag changes and restatements; every value traceable to its filing (Excel: Sources sheet). Prices: Yahoo Finance / Stooq; risk-free: FRED DGS10.</a:t>
            </a:r>
          </a:p>
          <a:p>
            <a:pPr>
              <a:spcAft>
                <a:spcPts val="900"/>
              </a:spcAft>
            </a:pPr>
            <a:r>
              <a:rPr sz="900">
                <a:solidFill>
                  <a:srgbClr val="E07A1F"/>
                </a:solidFill>
                <a:latin typeface="Calibri"/>
              </a:rPr>
              <a:t>■  </a:t>
            </a:r>
            <a:r>
              <a:rPr b="1" sz="1300">
                <a:solidFill>
                  <a:srgbClr val="1F2933"/>
                </a:solidFill>
                <a:latin typeface="Calibri"/>
              </a:rPr>
              <a:t>Benchmarking. </a:t>
            </a:r>
            <a:r>
              <a:rPr sz="1300">
                <a:solidFill>
                  <a:srgbClr val="1F2933"/>
                </a:solidFill>
                <a:latin typeface="Calibri"/>
              </a:rPr>
              <a:t>Latest fiscal year for each company; percentile ranks oriented so 100 = best; trends use the peer median and quartiles.</a:t>
            </a:r>
          </a:p>
          <a:p>
            <a:pPr>
              <a:spcAft>
                <a:spcPts val="900"/>
              </a:spcAft>
            </a:pPr>
            <a:r>
              <a:rPr sz="900">
                <a:solidFill>
                  <a:srgbClr val="E07A1F"/>
                </a:solidFill>
                <a:latin typeface="Calibri"/>
              </a:rPr>
              <a:t>■  </a:t>
            </a:r>
            <a:r>
              <a:rPr b="1" sz="1300">
                <a:solidFill>
                  <a:srgbClr val="1F2933"/>
                </a:solidFill>
                <a:latin typeface="Calibri"/>
              </a:rPr>
              <a:t>DCF. </a:t>
            </a:r>
            <a:r>
              <a:rPr sz="1300">
                <a:solidFill>
                  <a:srgbClr val="1F2933"/>
                </a:solidFill>
                <a:latin typeface="Calibri"/>
              </a:rPr>
              <a:t>5-year forecast, unlevered FCF, mid-year discounting, Gordon growth and exit-multiple terminal values.</a:t>
            </a:r>
          </a:p>
          <a:p>
            <a:pPr>
              <a:spcAft>
                <a:spcPts val="900"/>
              </a:spcAft>
            </a:pPr>
            <a:r>
              <a:rPr sz="900">
                <a:solidFill>
                  <a:srgbClr val="E07A1F"/>
                </a:solidFill>
                <a:latin typeface="Calibri"/>
              </a:rPr>
              <a:t>■  </a:t>
            </a:r>
            <a:r>
              <a:rPr b="1" sz="1300">
                <a:solidFill>
                  <a:srgbClr val="1F2933"/>
                </a:solidFill>
                <a:latin typeface="Calibri"/>
              </a:rPr>
              <a:t>WACC. </a:t>
            </a:r>
            <a:r>
              <a:rPr sz="1300">
                <a:solidFill>
                  <a:srgbClr val="1F2933"/>
                </a:solidFill>
                <a:latin typeface="Calibri"/>
              </a:rPr>
              <a:t>CAPM with a bottom-up beta (peer regression betas, Blume-adjusted, unlevered and relevered); cost of debt from a synthetic rating.</a:t>
            </a:r>
          </a:p>
          <a:p>
            <a:pPr>
              <a:spcAft>
                <a:spcPts val="900"/>
              </a:spcAft>
            </a:pPr>
            <a:r>
              <a:rPr sz="900">
                <a:solidFill>
                  <a:srgbClr val="E07A1F"/>
                </a:solidFill>
                <a:latin typeface="Calibri"/>
              </a:rPr>
              <a:t>■  </a:t>
            </a:r>
            <a:r>
              <a:rPr b="1" sz="1300">
                <a:solidFill>
                  <a:srgbClr val="1F2933"/>
                </a:solidFill>
                <a:latin typeface="Calibri"/>
              </a:rPr>
              <a:t>Price target. </a:t>
            </a:r>
            <a:r>
              <a:rPr sz="1300">
                <a:solidFill>
                  <a:srgbClr val="1F2933"/>
                </a:solidFill>
                <a:latin typeface="Calibri"/>
              </a:rPr>
              <a:t>Weighted blend of DCF (perpetuity and exit multiple) and trading comps; rating thresholds +15% / −10%.</a:t>
            </a:r>
          </a:p>
          <a:p>
            <a:pPr>
              <a:spcAft>
                <a:spcPts val="900"/>
              </a:spcAft>
            </a:pPr>
            <a:r>
              <a:rPr sz="900">
                <a:solidFill>
                  <a:srgbClr val="E07A1F"/>
                </a:solidFill>
                <a:latin typeface="Calibri"/>
              </a:rPr>
              <a:t>■  </a:t>
            </a:r>
            <a:r>
              <a:rPr b="1" sz="1300">
                <a:solidFill>
                  <a:srgbClr val="1F2933"/>
                </a:solidFill>
                <a:latin typeface="Calibri"/>
              </a:rPr>
              <a:t>Limitations. </a:t>
            </a:r>
            <a:r>
              <a:rPr sz="1300">
                <a:solidFill>
                  <a:srgbClr val="1F2933"/>
                </a:solidFill>
                <a:latin typeface="Calibri"/>
              </a:rPr>
              <a:t>No consensus estimates or stub-period adjustment; multiples on the latest fiscal year, not LTM; operating leases excluded from debt; peer set chosen by the analyst.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200" b="0" i="0">
                <a:solidFill>
                  <a:srgbClr val="5F6B7A"/>
                </a:solidFill>
                <a:latin typeface="Calibri"/>
              </a:rPr>
              <a:t>Educational research project generated with Ticker-to-Thesis. Not investment advice.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Calibri"/>
              </a:rPr>
              <a:t>Source: SEC EDGAR (10-K/10-Q XBRL), market data; Ticker-to-Thesis analysis.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40080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Calibri"/>
              </a:rPr>
              <a:t>NKE · 2026-10-12 ·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